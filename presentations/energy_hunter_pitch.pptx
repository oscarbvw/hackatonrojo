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8404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solidFill>
            <a:srgbClr val="104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3101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Energy Hunter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04F3A"/>
                </a:solidFill>
                <a:latin typeface="Calibri"/>
              </a:rPr>
              <a:t>Gestión inteligente de energía para edificios B2B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006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4B5A52"/>
                </a:solidFill>
                <a:latin typeface="Calibri"/>
              </a:rPr>
              <a:t>Visibilidad en tiempo real · Detección de anomalías · Modo Eco con un clic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577840"/>
            <a:ext cx="4754880" cy="502920"/>
          </a:xfrm>
          <a:prstGeom prst="roundRect">
            <a:avLst/>
          </a:prstGeom>
          <a:solidFill>
            <a:srgbClr val="9AC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4754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F2A24"/>
                </a:solidFill>
                <a:latin typeface="Calibri"/>
              </a:rPr>
              <a:t>Menos consumo · Menos emisiones · Más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B5A52"/>
                </a:solidFill>
                <a:latin typeface="Calibri"/>
              </a:rPr>
              <a:t>Avance MVP ·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4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8B57"/>
                </a:solidFill>
                <a:latin typeface="Calibri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04F3A"/>
                </a:solidFill>
                <a:latin typeface="Calibri"/>
              </a:rPr>
              <a:t>Los edificios consumen sin saber dónde ni cuándo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4B5A52"/>
                </a:solidFill>
                <a:latin typeface="Calibri"/>
              </a:rPr>
              <a:t>Datos dispersos, facturas sorpresa y nula reacción ante picos de consumo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B5A52"/>
                </a:solidFill>
                <a:latin typeface="Calibri"/>
              </a:rPr>
              <a:t>Energy Hunter · Hackathon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4B5A52"/>
                </a:solidFill>
                <a:latin typeface="Calibri"/>
              </a:rPr>
              <a:t>2 / 10</a:t>
            </a:r>
          </a:p>
        </p:txBody>
      </p:sp>
      <p:pic>
        <p:nvPicPr>
          <p:cNvPr id="9" name="Picture 8" descr="problem_m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194560"/>
            <a:ext cx="4754880" cy="3169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2377440"/>
            <a:ext cx="6217920" cy="36576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▎ </a:t>
            </a:r>
            <a:r>
              <a:rPr sz="1800">
                <a:solidFill>
                  <a:srgbClr val="1F2A24"/>
                </a:solidFill>
                <a:latin typeface="Calibri"/>
              </a:rPr>
              <a:t>30-40% del consumo eléctrico mundial proviene de edificios.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▎ </a:t>
            </a:r>
            <a:r>
              <a:rPr sz="1800">
                <a:solidFill>
                  <a:srgbClr val="1F2A24"/>
                </a:solidFill>
                <a:latin typeface="Calibri"/>
              </a:rPr>
              <a:t>Los gestores ven la factura, pero no la fase ni el equipo culpable.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▎ </a:t>
            </a:r>
            <a:r>
              <a:rPr sz="1800">
                <a:solidFill>
                  <a:srgbClr val="1F2A24"/>
                </a:solidFill>
                <a:latin typeface="Calibri"/>
              </a:rPr>
              <a:t>Las anomalías (consumos fuera de patrón) pasan desapercibidas durante días.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▎ </a:t>
            </a:r>
            <a:r>
              <a:rPr sz="1800">
                <a:solidFill>
                  <a:srgbClr val="1F2A24"/>
                </a:solidFill>
                <a:latin typeface="Calibri"/>
              </a:rPr>
              <a:t>Apagar manualmente cargas no críticas requiere coordinación lenta.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4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8B57"/>
                </a:solidFill>
                <a:latin typeface="Calibri"/>
              </a:rPr>
              <a:t>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04F3A"/>
                </a:solidFill>
                <a:latin typeface="Calibri"/>
              </a:rPr>
              <a:t>Un panel B2B que ve, alerta y actúa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4B5A52"/>
                </a:solidFill>
                <a:latin typeface="Calibri"/>
              </a:rPr>
              <a:t>Streamlit + telemetría en tiempo real + Modo Eco granular por fase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B5A52"/>
                </a:solidFill>
                <a:latin typeface="Calibri"/>
              </a:rPr>
              <a:t>Energy Hunter · Hackathon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4B5A52"/>
                </a:solidFill>
                <a:latin typeface="Calibri"/>
              </a:rPr>
              <a:t>3 / 10</a:t>
            </a:r>
          </a:p>
        </p:txBody>
      </p:sp>
      <p:pic>
        <p:nvPicPr>
          <p:cNvPr id="9" name="Picture 8" descr="dashboard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7498079" cy="421766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0" y="2286000"/>
            <a:ext cx="3383280" cy="41148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2E8B57"/>
                </a:solidFill>
                <a:latin typeface="Calibri"/>
              </a:rPr>
              <a:t>▎ </a:t>
            </a:r>
            <a:r>
              <a:rPr sz="1600">
                <a:solidFill>
                  <a:srgbClr val="1F2A24"/>
                </a:solidFill>
                <a:latin typeface="Calibri"/>
              </a:rPr>
              <a:t>Mapa con todos los edificios.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E8B57"/>
                </a:solidFill>
                <a:latin typeface="Calibri"/>
              </a:rPr>
              <a:t>▎ </a:t>
            </a:r>
            <a:r>
              <a:rPr sz="1600">
                <a:solidFill>
                  <a:srgbClr val="1F2A24"/>
                </a:solidFill>
                <a:latin typeface="Calibri"/>
              </a:rPr>
              <a:t>KPIs vivos: kWh, €/MWh, anomalías.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E8B57"/>
                </a:solidFill>
                <a:latin typeface="Calibri"/>
              </a:rPr>
              <a:t>▎ </a:t>
            </a:r>
            <a:r>
              <a:rPr sz="1600">
                <a:solidFill>
                  <a:srgbClr val="1F2A24"/>
                </a:solidFill>
                <a:latin typeface="Calibri"/>
              </a:rPr>
              <a:t>Curvas por fase con marcadores visuales.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E8B57"/>
                </a:solidFill>
                <a:latin typeface="Calibri"/>
              </a:rPr>
              <a:t>▎ </a:t>
            </a:r>
            <a:r>
              <a:rPr sz="1600">
                <a:solidFill>
                  <a:srgbClr val="1F2A24"/>
                </a:solidFill>
                <a:latin typeface="Calibri"/>
              </a:rPr>
              <a:t>Botón de pánico con efecto inmediato.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4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8B57"/>
                </a:solidFill>
                <a:latin typeface="Calibri"/>
              </a:rPr>
              <a:t>VENTAJAS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04F3A"/>
                </a:solidFill>
                <a:latin typeface="Calibri"/>
              </a:rPr>
              <a:t>Por qué Energy Hunter mueve la aguja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4B5A52"/>
                </a:solidFill>
                <a:latin typeface="Calibri"/>
              </a:rPr>
              <a:t>Diseñado alrededor del ahorro, la accesibilidad y la velocidad de reacción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B5A52"/>
                </a:solidFill>
                <a:latin typeface="Calibri"/>
              </a:rPr>
              <a:t>Energy Hunter · Hackathon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4B5A52"/>
                </a:solidFill>
                <a:latin typeface="Calibri"/>
              </a:rPr>
              <a:t>4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36576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2487168"/>
            <a:ext cx="201168" cy="201168"/>
          </a:xfrm>
          <a:prstGeom prst="ellipse">
            <a:avLst/>
          </a:prstGeom>
          <a:solidFill>
            <a:srgbClr val="9AC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4231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04F3A"/>
                </a:solidFill>
                <a:latin typeface="Calibri"/>
              </a:rPr>
              <a:t>Ahorro inmediato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834640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24"/>
                </a:solidFill>
                <a:latin typeface="Calibri"/>
              </a:rPr>
              <a:t>Hasta −40% de consumo en las fases que el operador elige, sin obras.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86000"/>
            <a:ext cx="36576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17720" y="2487168"/>
            <a:ext cx="201168" cy="201168"/>
          </a:xfrm>
          <a:prstGeom prst="ellipse">
            <a:avLst/>
          </a:prstGeom>
          <a:solidFill>
            <a:srgbClr val="9AC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4231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04F3A"/>
                </a:solidFill>
                <a:latin typeface="Calibri"/>
              </a:rPr>
              <a:t>Detección de anomalías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34640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24"/>
                </a:solidFill>
                <a:latin typeface="Calibri"/>
              </a:rPr>
              <a:t>Regla de domingo (×1.40 sobre baseline) y marcadores en mapa y gráfica.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2286000"/>
            <a:ext cx="36576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12480" y="2487168"/>
            <a:ext cx="201168" cy="201168"/>
          </a:xfrm>
          <a:prstGeom prst="ellipse">
            <a:avLst/>
          </a:prstGeom>
          <a:solidFill>
            <a:srgbClr val="9AC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4231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04F3A"/>
                </a:solidFill>
                <a:latin typeface="Calibri"/>
              </a:rPr>
              <a:t>Control granular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34640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24"/>
                </a:solidFill>
                <a:latin typeface="Calibri"/>
              </a:rPr>
              <a:t>Modo Eco fase a fase, no "todo o nada". Cero impacto en cargas críticas.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886200"/>
            <a:ext cx="36576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" y="4087368"/>
            <a:ext cx="201168" cy="201168"/>
          </a:xfrm>
          <a:prstGeom prst="ellipse">
            <a:avLst/>
          </a:prstGeom>
          <a:solidFill>
            <a:srgbClr val="9AC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023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04F3A"/>
                </a:solidFill>
                <a:latin typeface="Calibri"/>
              </a:rPr>
              <a:t>Telemetría 30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434840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24"/>
                </a:solidFill>
                <a:latin typeface="Calibri"/>
              </a:rPr>
              <a:t>Lectura cada 30 s con back-off automático y estado API siempre visible.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3886200"/>
            <a:ext cx="36576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17720" y="4087368"/>
            <a:ext cx="201168" cy="201168"/>
          </a:xfrm>
          <a:prstGeom prst="ellipse">
            <a:avLst/>
          </a:prstGeom>
          <a:solidFill>
            <a:srgbClr val="9AC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37760" y="4023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04F3A"/>
                </a:solidFill>
                <a:latin typeface="Calibri"/>
              </a:rPr>
              <a:t>Accesible WCAG 2.1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434840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24"/>
                </a:solidFill>
                <a:latin typeface="Calibri"/>
              </a:rPr>
              <a:t>Lectores de pantalla, contraste alto, navegación por teclado.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3886200"/>
            <a:ext cx="36576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412480" y="4087368"/>
            <a:ext cx="201168" cy="201168"/>
          </a:xfrm>
          <a:prstGeom prst="ellipse">
            <a:avLst/>
          </a:prstGeom>
          <a:solidFill>
            <a:srgbClr val="9AC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32520" y="4023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04F3A"/>
                </a:solidFill>
                <a:latin typeface="Calibri"/>
              </a:rPr>
              <a:t>Stack abierto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4434840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24"/>
                </a:solidFill>
                <a:latin typeface="Calibri"/>
              </a:rPr>
              <a:t>Python + Streamlit + Flask. Reproducible en local en 2 comandos.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4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8B57"/>
                </a:solidFill>
                <a:latin typeface="Calibri"/>
              </a:rPr>
              <a:t>DEMO DESTACADA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04F3A"/>
                </a:solidFill>
                <a:latin typeface="Calibri"/>
              </a:rPr>
              <a:t>Botón de Pánico granular: del clic al ahorro en segundos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4B5A52"/>
                </a:solidFill>
                <a:latin typeface="Calibri"/>
              </a:rPr>
              <a:t>Marca las fases, confirma, y el webhook propaga Modo Eco al hardware simulado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B5A52"/>
                </a:solidFill>
                <a:latin typeface="Calibri"/>
              </a:rPr>
              <a:t>Energy Hunter · Hackathon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4B5A52"/>
                </a:solidFill>
                <a:latin typeface="Calibri"/>
              </a:rPr>
              <a:t>5 / 10</a:t>
            </a:r>
          </a:p>
        </p:txBody>
      </p:sp>
      <p:pic>
        <p:nvPicPr>
          <p:cNvPr id="9" name="Picture 8" descr="panic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6400800" cy="426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2286000"/>
            <a:ext cx="4297680" cy="41148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▎ </a:t>
            </a:r>
            <a:r>
              <a:rPr sz="1500">
                <a:solidFill>
                  <a:srgbClr val="1F2A24"/>
                </a:solidFill>
                <a:latin typeface="Calibri"/>
              </a:rPr>
              <a:t>1. El operador ve un pico anómalo.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▎ </a:t>
            </a:r>
            <a:r>
              <a:rPr sz="1500">
                <a:solidFill>
                  <a:srgbClr val="1F2A24"/>
                </a:solidFill>
                <a:latin typeface="Calibri"/>
              </a:rPr>
              <a:t>2. Selecciona qué fases pasan a Eco.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▎ </a:t>
            </a:r>
            <a:r>
              <a:rPr sz="1500">
                <a:solidFill>
                  <a:srgbClr val="1F2A24"/>
                </a:solidFill>
                <a:latin typeface="Calibri"/>
              </a:rPr>
              <a:t>3. Confirma con un único botón.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▎ </a:t>
            </a:r>
            <a:r>
              <a:rPr sz="1500">
                <a:solidFill>
                  <a:srgbClr val="1F2A24"/>
                </a:solidFill>
                <a:latin typeface="Calibri"/>
              </a:rPr>
              <a:t>4. Webhook → API → −40% en esas fases.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▎ </a:t>
            </a:r>
            <a:r>
              <a:rPr sz="1500">
                <a:solidFill>
                  <a:srgbClr val="1F2A24"/>
                </a:solidFill>
                <a:latin typeface="Calibri"/>
              </a:rPr>
              <a:t>5. Estado se anuncia por aria-live (a11y).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▎ </a:t>
            </a:r>
            <a:r>
              <a:rPr sz="1500">
                <a:solidFill>
                  <a:srgbClr val="1F2A24"/>
                </a:solidFill>
                <a:latin typeface="Calibri"/>
              </a:rPr>
              <a:t>6. Cargas críticas siguen intactas.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4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8B57"/>
                </a:solidFill>
                <a:latin typeface="Calibri"/>
              </a:rPr>
              <a:t>CÓMO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04F3A"/>
                </a:solidFill>
                <a:latin typeface="Calibri"/>
              </a:rPr>
              <a:t>Arquitectura simple, demoable en local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4B5A52"/>
                </a:solidFill>
                <a:latin typeface="Calibri"/>
              </a:rPr>
              <a:t>Sin dependencias cloud para el hackathon: 2 comandos y listo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B5A52"/>
                </a:solidFill>
                <a:latin typeface="Calibri"/>
              </a:rPr>
              <a:t>Energy Hunter · Hackathon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4B5A52"/>
                </a:solidFill>
                <a:latin typeface="Calibri"/>
              </a:rPr>
              <a:t>6 / 10</a:t>
            </a:r>
          </a:p>
        </p:txBody>
      </p:sp>
      <p:pic>
        <p:nvPicPr>
          <p:cNvPr id="9" name="Picture 8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10972800" cy="5486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6692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4B5A52"/>
                </a:solidFill>
                <a:latin typeface="Calibri"/>
              </a:rPr>
              <a:t>Streamlit consume el Mock API (Smart Breaker + SIOS), Kiro orquesta el fan-out a Modo Eco. TDD + property-based tests cubren las 10 propiedades críticas.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4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8B57"/>
                </a:solidFill>
                <a:latin typeface="Calibri"/>
              </a:rPr>
              <a:t>IMPACTO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04F3A"/>
                </a:solidFill>
                <a:latin typeface="Calibri"/>
              </a:rPr>
              <a:t>Ahorro medible por categoría de carga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4B5A52"/>
                </a:solidFill>
                <a:latin typeface="Calibri"/>
              </a:rPr>
              <a:t>Ejemplo de un edificio piloto: 4 fases activadas en Modo Eco durante 1 hora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B5A52"/>
                </a:solidFill>
                <a:latin typeface="Calibri"/>
              </a:rPr>
              <a:t>Energy Hunter · Hackathon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4B5A52"/>
                </a:solidFill>
                <a:latin typeface="Calibri"/>
              </a:rPr>
              <a:t>7 / 10</a:t>
            </a:r>
          </a:p>
        </p:txBody>
      </p:sp>
      <p:pic>
        <p:nvPicPr>
          <p:cNvPr id="9" name="Picture 8" descr="saving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03120"/>
            <a:ext cx="7772400" cy="466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95360" y="2286000"/>
            <a:ext cx="3108960" cy="41148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▎ </a:t>
            </a:r>
            <a:r>
              <a:rPr sz="1500">
                <a:solidFill>
                  <a:srgbClr val="1F2A24"/>
                </a:solidFill>
                <a:latin typeface="Calibri"/>
              </a:rPr>
              <a:t>−40% por fase activada.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▎ </a:t>
            </a:r>
            <a:r>
              <a:rPr sz="1500">
                <a:solidFill>
                  <a:srgbClr val="1F2A24"/>
                </a:solidFill>
                <a:latin typeface="Calibri"/>
              </a:rPr>
              <a:t>Reducción proporcional de €/h.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▎ </a:t>
            </a:r>
            <a:r>
              <a:rPr sz="1500">
                <a:solidFill>
                  <a:srgbClr val="1F2A24"/>
                </a:solidFill>
                <a:latin typeface="Calibri"/>
              </a:rPr>
              <a:t>Menos huella de CO₂ inmediata.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▎ </a:t>
            </a:r>
            <a:r>
              <a:rPr sz="1500">
                <a:solidFill>
                  <a:srgbClr val="1F2A24"/>
                </a:solidFill>
                <a:latin typeface="Calibri"/>
              </a:rPr>
              <a:t>Sin tocar servidores críticos.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E8B57"/>
                </a:solidFill>
                <a:latin typeface="Calibri"/>
              </a:rPr>
              <a:t>▎ </a:t>
            </a:r>
            <a:r>
              <a:rPr sz="1500">
                <a:solidFill>
                  <a:srgbClr val="1F2A24"/>
                </a:solidFill>
                <a:latin typeface="Calibri"/>
              </a:rPr>
              <a:t>Auditable: cada acción queda registrada.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4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8B57"/>
                </a:solidFill>
                <a:latin typeface="Calibri"/>
              </a:rPr>
              <a:t>HACIA DÓNDE 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04F3A"/>
                </a:solidFill>
                <a:latin typeface="Calibri"/>
              </a:rPr>
              <a:t>Roadmap del MVP al producto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4B5A52"/>
                </a:solidFill>
                <a:latin typeface="Calibri"/>
              </a:rPr>
              <a:t>Hoy: hackathon. Mañana: piloto real con breakers físicos.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B5A52"/>
                </a:solidFill>
                <a:latin typeface="Calibri"/>
              </a:rPr>
              <a:t>Energy Hunter · Hackathon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4B5A52"/>
                </a:solidFill>
                <a:latin typeface="Calibri"/>
              </a:rPr>
              <a:t>8 / 10</a:t>
            </a:r>
          </a:p>
        </p:txBody>
      </p:sp>
      <p:pic>
        <p:nvPicPr>
          <p:cNvPr id="9" name="Picture 8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0"/>
            <a:ext cx="11247120" cy="401682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E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4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8B57"/>
                </a:solidFill>
                <a:latin typeface="Calibri"/>
              </a:rPr>
              <a:t>FRENTE A ALTERNATIVAS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04F3A"/>
                </a:solidFill>
                <a:latin typeface="Calibri"/>
              </a:rPr>
              <a:t>Lo que nos diferencia de otros proyectos del hackathon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4B5A52"/>
                </a:solidFill>
                <a:latin typeface="Calibri"/>
              </a:rPr>
              <a:t>Foco en acción, no solo en visualización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B5A52"/>
                </a:solidFill>
                <a:latin typeface="Calibri"/>
              </a:rPr>
              <a:t>Energy Hunter · Hackathon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4B5A52"/>
                </a:solidFill>
                <a:latin typeface="Calibri"/>
              </a:rPr>
              <a:t>9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972800" cy="36576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▎ </a:t>
            </a:r>
            <a:r>
              <a:rPr sz="1800">
                <a:solidFill>
                  <a:srgbClr val="1F2A24"/>
                </a:solidFill>
                <a:latin typeface="Calibri"/>
              </a:rPr>
              <a:t>Otros muestran datos: nosotros además accionamos el Modo Eco en segundos.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▎ </a:t>
            </a:r>
            <a:r>
              <a:rPr sz="1800">
                <a:solidFill>
                  <a:srgbClr val="1F2A24"/>
                </a:solidFill>
                <a:latin typeface="Calibri"/>
              </a:rPr>
              <a:t>Granularidad por fase, no por edificio entero (cargas críticas siempre seguras).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▎ </a:t>
            </a:r>
            <a:r>
              <a:rPr sz="1800">
                <a:solidFill>
                  <a:srgbClr val="1F2A24"/>
                </a:solidFill>
                <a:latin typeface="Calibri"/>
              </a:rPr>
              <a:t>Stack 100% open-source y reproducible en local sin cuentas cloud.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▎ </a:t>
            </a:r>
            <a:r>
              <a:rPr sz="1800">
                <a:solidFill>
                  <a:srgbClr val="1F2A24"/>
                </a:solidFill>
                <a:latin typeface="Calibri"/>
              </a:rPr>
              <a:t>Accesibilidad WCAG AA desde el día 1, no como capa cosmética.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▎ </a:t>
            </a:r>
            <a:r>
              <a:rPr sz="1800">
                <a:solidFill>
                  <a:srgbClr val="1F2A24"/>
                </a:solidFill>
                <a:latin typeface="Calibri"/>
              </a:rPr>
              <a:t>TDD con propiedades formales: 10 invariantes verificadas con Hypothesis.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Energía bajo control. Naturaleza protegida.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F5EFE0"/>
                </a:solidFill>
                <a:latin typeface="Calibri"/>
              </a:rPr>
              <a:t>Energy Hunter convierte cada edificio en un actor activo del ahorro.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657600"/>
            <a:ext cx="3566160" cy="18288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9ACD32"/>
                </a:solidFill>
                <a:latin typeface="Calibri"/>
              </a:rPr>
              <a:t>−40%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consumo por fase
en Modo Eco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19" y="3657600"/>
            <a:ext cx="3566160" cy="18288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19" y="3749039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9ACD32"/>
                </a:solidFill>
                <a:latin typeface="Calibri"/>
              </a:rPr>
              <a:t>30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19" y="457200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frecuencia de
telemetría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8" y="3657600"/>
            <a:ext cx="3566160" cy="18288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58" y="3749039"/>
            <a:ext cx="3566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9ACD32"/>
                </a:solidFill>
                <a:latin typeface="Calibri"/>
              </a:rPr>
              <a:t>WCAG 2.1 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8" y="457200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accesibilidad
por diseño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F5EFE0"/>
                </a:solidFill>
                <a:latin typeface="Calibri"/>
              </a:rPr>
              <a:t>¿Preguntas? — github.com/energy-hunter   ·   demo en vivo disponible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
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840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31012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Energy Hunter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Gestión inteligente de energía para edificios 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4B5A52"/>
                </a:solidFill>
                <a:latin typeface="Calibri"/>
              </a:rPr>
              <a:t>Visibilidad en tiempo real · Detección de anomalías · Modo Eco con un clic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4754880" cy="502920"/>
          </a:xfrm>
          <a:prstGeom prst="roundRect">
            <a:avLst/>
          </a:prstGeom>
          <a:solidFill>
            <a:srgbClr val="9A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24"/>
                </a:solidFill>
                <a:latin typeface="Calibri"/>
              </a:rPr>
              <a:t>Menos consumo · Menos emisiones · Más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B5A52"/>
                </a:solidFill>
                <a:latin typeface="Calibri"/>
              </a:rPr>
              <a:t>Avance MVP ·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Los edificios consumen sin saber dónde ni cuándo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Datos dispersos, facturas sorpresa y nula reacción ante picos de consumo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2 / 12</a:t>
            </a:r>
          </a:p>
        </p:txBody>
      </p:sp>
      <p:pic>
        <p:nvPicPr>
          <p:cNvPr id="9" name="Picture 8" descr="problem_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194560"/>
            <a:ext cx="4754880" cy="3169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2377440"/>
            <a:ext cx="62179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30-40% del consumo eléctrico mundial proviene de edificios.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Los gestores ven la factura, pero no la fase ni el equipo culpable.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Las anomalías (consumos fuera de patrón) pasan desapercibidas durante días.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Apagar manualmente cargas no críticas requiere coordinación lenta.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Un panel B2B que ve, alerta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Streamlit + telemetría en tiempo real + Modo Eco granular por fase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3 / 12</a:t>
            </a:r>
          </a:p>
        </p:txBody>
      </p:sp>
      <p:pic>
        <p:nvPicPr>
          <p:cNvPr id="9" name="Picture 8" descr="dashboard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7498079" cy="42176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28600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8B57"/>
                </a:solidFill>
                <a:latin typeface="Calibri"/>
              </a:rPr>
              <a:t>▎ </a:t>
            </a:r>
            <a:r>
              <a:rPr sz="1600">
                <a:solidFill>
                  <a:srgbClr val="1F2A24"/>
                </a:solidFill>
                <a:latin typeface="Calibri"/>
              </a:rPr>
              <a:t>Mapa con todos los edificios.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E8B57"/>
                </a:solidFill>
                <a:latin typeface="Calibri"/>
              </a:rPr>
              <a:t>▎ </a:t>
            </a:r>
            <a:r>
              <a:rPr sz="1600">
                <a:solidFill>
                  <a:srgbClr val="1F2A24"/>
                </a:solidFill>
                <a:latin typeface="Calibri"/>
              </a:rPr>
              <a:t>KPIs vivos: kWh, €/MWh, anomalías.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E8B57"/>
                </a:solidFill>
                <a:latin typeface="Calibri"/>
              </a:rPr>
              <a:t>▎ </a:t>
            </a:r>
            <a:r>
              <a:rPr sz="1600">
                <a:solidFill>
                  <a:srgbClr val="1F2A24"/>
                </a:solidFill>
                <a:latin typeface="Calibri"/>
              </a:rPr>
              <a:t>Curvas por fase con marcadores visuales.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E8B57"/>
                </a:solidFill>
                <a:latin typeface="Calibri"/>
              </a:rPr>
              <a:t>▎ </a:t>
            </a:r>
            <a:r>
              <a:rPr sz="1600">
                <a:solidFill>
                  <a:srgbClr val="1F2A24"/>
                </a:solidFill>
                <a:latin typeface="Calibri"/>
              </a:rPr>
              <a:t>Botón de pánico con efecto inmediato.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VENTAJAS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Por qué Energy Hunter mueve la aguja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Diseñado alrededor del ahorro, la accesibilidad y la velocidad de reacción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487168"/>
            <a:ext cx="201168" cy="201168"/>
          </a:xfrm>
          <a:prstGeom prst="ellipse">
            <a:avLst/>
          </a:prstGeom>
          <a:solidFill>
            <a:srgbClr val="9A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4F3A"/>
                </a:solidFill>
                <a:latin typeface="Calibri"/>
              </a:rPr>
              <a:t>Ahorro inmediato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24"/>
                </a:solidFill>
                <a:latin typeface="Calibri"/>
              </a:rPr>
              <a:t>Hasta −40% de consumo en las fases que el operador elige, sin obras.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28600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487168"/>
            <a:ext cx="201168" cy="201168"/>
          </a:xfrm>
          <a:prstGeom prst="ellipse">
            <a:avLst/>
          </a:prstGeom>
          <a:solidFill>
            <a:srgbClr val="9A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4F3A"/>
                </a:solidFill>
                <a:latin typeface="Calibri"/>
              </a:rPr>
              <a:t>Detección de anomalías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46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24"/>
                </a:solidFill>
                <a:latin typeface="Calibri"/>
              </a:rPr>
              <a:t>Regla de domingo (×1.40 sobre baseline) y marcadores en mapa y gráfica.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28600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0" y="2487168"/>
            <a:ext cx="201168" cy="201168"/>
          </a:xfrm>
          <a:prstGeom prst="ellipse">
            <a:avLst/>
          </a:prstGeom>
          <a:solidFill>
            <a:srgbClr val="9A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4F3A"/>
                </a:solidFill>
                <a:latin typeface="Calibri"/>
              </a:rPr>
              <a:t>Control granular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346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24"/>
                </a:solidFill>
                <a:latin typeface="Calibri"/>
              </a:rPr>
              <a:t>Modo Eco fase a fase, no "todo o nada". Cero impacto en cargas críticas.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087368"/>
            <a:ext cx="201168" cy="201168"/>
          </a:xfrm>
          <a:prstGeom prst="ellipse">
            <a:avLst/>
          </a:prstGeom>
          <a:solidFill>
            <a:srgbClr val="9A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023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4F3A"/>
                </a:solidFill>
                <a:latin typeface="Calibri"/>
              </a:rPr>
              <a:t>Telemetría 30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24"/>
                </a:solidFill>
                <a:latin typeface="Calibri"/>
              </a:rPr>
              <a:t>Lectura cada 30 s con back-off automático y estado API siempre visible.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88620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20" y="4087368"/>
            <a:ext cx="201168" cy="201168"/>
          </a:xfrm>
          <a:prstGeom prst="ellipse">
            <a:avLst/>
          </a:prstGeom>
          <a:solidFill>
            <a:srgbClr val="9A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023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4F3A"/>
                </a:solidFill>
                <a:latin typeface="Calibri"/>
              </a:rPr>
              <a:t>Accesible WCAG 2.1 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4348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24"/>
                </a:solidFill>
                <a:latin typeface="Calibri"/>
              </a:rPr>
              <a:t>Lectores de pantalla, contraste alto, navegación por teclado.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88620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4087368"/>
            <a:ext cx="201168" cy="201168"/>
          </a:xfrm>
          <a:prstGeom prst="ellipse">
            <a:avLst/>
          </a:prstGeom>
          <a:solidFill>
            <a:srgbClr val="9A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4023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4F3A"/>
                </a:solidFill>
                <a:latin typeface="Calibri"/>
              </a:rPr>
              <a:t>Stack abierto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4348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24"/>
                </a:solidFill>
                <a:latin typeface="Calibri"/>
              </a:rPr>
              <a:t>Python + Streamlit + Flask. Reproducible en local en 2 comandos.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DEMO DESTACADA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Botón de Pánico granular: del clic al ahorro en segundos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Marca las fases, confirma, y el webhook propaga Modo Eco al hardware simulado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5 / 12</a:t>
            </a:r>
          </a:p>
        </p:txBody>
      </p:sp>
      <p:pic>
        <p:nvPicPr>
          <p:cNvPr id="9" name="Picture 8" descr="panic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6400800" cy="426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2286000"/>
            <a:ext cx="42976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1. El operador ve un pico anómalo.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2. Selecciona qué fases pasan a Eco.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3. Confirma con un único botón.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4. Webhook → API → −40% en esas fases.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5. Estado se anuncia por aria-live (a11y).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6. Cargas críticas siguen intactas.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Arquitectura simple, demoable en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Sin dependencias cloud para el hackathon: 2 comandos y listo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6 / 12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10972800" cy="548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B5A52"/>
                </a:solidFill>
                <a:latin typeface="Calibri"/>
              </a:rPr>
              <a:t>Streamlit consume el Mock API (Smart Breaker + SIOS), Kiro orquesta el fan-out a Modo Eco. TDD + property-based tests cubren las 10 propiedades críticas.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DESPLIEGUE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Cómo se escala Energy Hunter en AWS con IoT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Mismo código del MVP, ahora con grado industrial: seguro, elástico y multi-región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7 / 12</a:t>
            </a:r>
          </a:p>
        </p:txBody>
      </p:sp>
      <p:pic>
        <p:nvPicPr>
          <p:cNvPr id="9" name="Picture 8" descr="aw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57400"/>
            <a:ext cx="768096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2194560"/>
            <a:ext cx="3657600" cy="4206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AWS IoT Core: MQTT mutuo TLS, Device Shadow por fase.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Rules Engine → Lambda → Timestream para series temporales.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S3 + Athena para histórico y auditoría barata.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Lambda detecta anomalías y publica al webhook de Modo Eco.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Streamlit corre en ECS Fargate detrás de CloudFront + Cognito.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Greengrass opcional para autonomía sin red en planta.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COSTE Y RETORNO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Lo que paga el cliente en AWS frente a lo que ahorra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Tres escenarios reales · ROI positivo desde el primer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8 / 12</a:t>
            </a:r>
          </a:p>
        </p:txBody>
      </p:sp>
      <p:pic>
        <p:nvPicPr>
          <p:cNvPr id="9" name="Picture 8" descr="aws_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0"/>
            <a:ext cx="7680960" cy="41696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2103120"/>
            <a:ext cx="365760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Pyme: ~95 €/mes en AWS · ahorro ≈ 720 €/mes.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Mediana: ~380 €/mes en AWS · ahorro ≈ 4.200 €/mes.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Corporativo: ~1.850 €/mes · ahorro ≈ 26.000 €/mes.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Pago por uso: IoT Core, Timestream, Lambda, Fargate.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Sin licencias por dispositivo ni costes ocultos.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▎ </a:t>
            </a:r>
            <a:r>
              <a:rPr sz="1400">
                <a:solidFill>
                  <a:srgbClr val="1F2A24"/>
                </a:solidFill>
                <a:latin typeface="Calibri"/>
              </a:rPr>
              <a:t>ROI &gt; 7× en todos los tramos analizados.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A52"/>
                </a:solidFill>
                <a:latin typeface="Calibri"/>
              </a:rPr>
              <a:t>Estimaciones orientativas en eu-west-1, basadas en mensajes IoT cada 30 s y ahorro medio del 15% sobre la factura mensual del cliente.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Ahorro medible por categoría de carga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Ejemplo de un edificio piloto: 4 fases activadas en Modo Eco durante 1 hora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9 / 12</a:t>
            </a:r>
          </a:p>
        </p:txBody>
      </p:sp>
      <p:pic>
        <p:nvPicPr>
          <p:cNvPr id="9" name="Picture 8" descr="saving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777240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0" y="2286000"/>
            <a:ext cx="310896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−40% por fase activada.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Reducción proporcional de €/h.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Menos huella de CO₂ inmediata.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Sin tocar servidores críticos.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▎ </a:t>
            </a:r>
            <a:r>
              <a:rPr sz="1500">
                <a:solidFill>
                  <a:srgbClr val="1F2A24"/>
                </a:solidFill>
                <a:latin typeface="Calibri"/>
              </a:rPr>
              <a:t>Auditable: cada acción queda registrada.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HACIA DÓNDE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Roadmap del MVP al producto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Hoy: hackathon. Mañana: piloto real con breakers físicos.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10 / 12</a:t>
            </a:r>
          </a:p>
        </p:txBody>
      </p:sp>
      <p:pic>
        <p:nvPicPr>
          <p:cNvPr id="9" name="Picture 8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1247120" cy="4016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FRENTE A ALTERNATIVAS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04F3A"/>
                </a:solidFill>
                <a:latin typeface="Calibri"/>
              </a:rPr>
              <a:t>Lo que nos diferencia de otros proyectos del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A52"/>
                </a:solidFill>
                <a:latin typeface="Calibri"/>
              </a:rPr>
              <a:t>Foco en acción, no solo en visualización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A52"/>
                </a:solidFill>
                <a:latin typeface="Calibri"/>
              </a:rPr>
              <a:t>Energy Hunter · Hackathon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B5A52"/>
                </a:solidFill>
                <a:latin typeface="Calibri"/>
              </a:rPr>
              <a:t>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Otros muestran datos: nosotros además accionamos el Modo Eco en segundos.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Granularidad por fase, no por edificio entero (cargas críticas siempre seguras).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Stack 100% open-source y reproducible en local sin cuentas cloud.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Accesibilidad WCAG AA desde el día 1, no como capa cosmética.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▎ </a:t>
            </a:r>
            <a:r>
              <a:rPr sz="1800">
                <a:solidFill>
                  <a:srgbClr val="1F2A24"/>
                </a:solidFill>
                <a:latin typeface="Calibri"/>
              </a:rPr>
              <a:t>TDD con propiedades formales: 10 invariantes verificadas con Hypothesis.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Energía bajo control. Naturaleza protegida.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EFE0"/>
                </a:solidFill>
                <a:latin typeface="Calibri"/>
              </a:rPr>
              <a:t>Energy Hunter convierte cada edificio en un actor activo del ahorro.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3566160" cy="1828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9ACD32"/>
                </a:solidFill>
                <a:latin typeface="Calibri"/>
              </a:rPr>
              <a:t>−40%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consumo por fase
en Modo Eco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3657600"/>
            <a:ext cx="3566160" cy="1828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19" y="3749039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9ACD32"/>
                </a:solidFill>
                <a:latin typeface="Calibri"/>
              </a:rPr>
              <a:t>30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19" y="45720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frecuencia de
telemetría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8" y="3657600"/>
            <a:ext cx="3566160" cy="1828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8" y="3749039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9ACD32"/>
                </a:solidFill>
                <a:latin typeface="Calibri"/>
              </a:rPr>
              <a:t>WCAG 2.1 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8" y="45720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accesibilidad
por diseño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5EFE0"/>
                </a:solidFill>
                <a:latin typeface="Calibri"/>
              </a:rPr>
              <a:t>¿Preguntas? — github.com/energy-hunter   ·   demo en vivo disponible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
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957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Hola, somos el equipo de Smart Energy Control. En los próximos cinco minutos vais a ver una herramienta B2B que ayuda a edificios y empresas a consumir menos energía y emitir menos CO2, con un solo clic. Menos consumo, menos emisiones, más control.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edificios son responsables de hasta el 40 por ciento del consumo eléctrico mundial. El gestor recibe la factura a fin de mes pero no sabe qué fase ni qué equipo se le ha disparado. Las anomalías pasan días sin detectarse, y apagar cargas no críticas implica llamadas y coordinación. Hay un agujero entre lo que se mide y lo que se puede accionar.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Smart Energy Control cierra ese hueco. Lo que veis en pantalla no es un mockup: es la aplicación real. Recibe telemetría cada 30 segundos por fase, muestra los edificios en mapa, calcula el coste con el precio del mercado SIOS y marca cualquier consumo anómalo. Ve, alerta y acciona.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Estas son las seis ventajas que diferencian al producto: ahorro inmediato del 40 por ciento por fase, detección automática de anomalías de domingo, control granular sin tocar cargas críticas, telemetría cada 30 segundos con back-off, accesibilidad WCAG 2.1 AA y un stack abierto que cualquiera puede levantar en local en dos comandos.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demo estrella: el botón de pánico granular. El operador selecciona qué fases pasan a Modo Eco, confirma, y el webhook propaga la orden al breaker. Servidores críticos siguen intactos. Iluminación, climatización y cargadores se reducen un 40 por ciento al instante. La acción se anuncia con aria-live para lectores de pantalla.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Aquí tenéis dos vistas más del producto en marcha. A la izquierda, la vista global con mapa, KPIs y consumo por fase. A la derecha, el detalle con el estado de la API en tiempo real y las anomalías marcadas. Todo esto está corriendo en local hoy, con el mismo código que llevaremos a AWS.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arquitectura del MVP es simple a propósito. Streamlit consume un Mock API local que simula los breakers y los precios SIOS, y un stub de Kiro orquesta el fan-out a Modo Eco. Todo se levanta con dos comandos. La lógica está cubierta con TDD y diez propiedades verificadas con Hypothesis.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producción, llevamos exactamente la misma lógica a AWS. Los breakers publican por MQTT a IoT Core con TLS mutuo. Las reglas disparan funciones Lambda que escriben en Timestream y, si detectan una anomalía, llaman al endpoint de Modo Eco. El frontend Streamlit corre en Fargate detrás de CloudFront y Cognito. Greengrass es opcional para autonomía sin red.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 aquí está el argumento de venta: en los tres tramos el ahorro supera al coste por más de siete a uno. Una pyme paga noventa y cinco euros al mes en AWS y se ahorra setecientos veinte. Una mediana paga trescientos ochenta y se ahorra cuatro mil doscientos. Un cliente corporativo paga mil ochocientos cincuenta y se ahorra veintiséis mil. ROI positivo desde el primer mes.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 os preguntáis a dónde va cada euro: Timestream y Fargate son los servicios más pesados, IoT Core suma poco gracias a la tarifa por millón de mensajes, y Lambda apenas pesa. No hay licencias por dispositivo ni compromisos anuales. Con Savings Plans bajamos otro veinte a cuarenta por ciento. Cero sorpresas en factura.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impacto es medible y auditable. Cada fase que entra en Modo Eco baja su consumo un cuarenta por ciento, lo que se traduce en menos kilovatios, menos euros y menos CO2 emitido. Y todo queda registrado, así que el cliente puede demostrar el ahorro a su comité o a su auditor de sostenibilidad.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roadmap es claro. Hoy entregamos el MVP del hackathon. El siguiente paso es un piloto con tres edificios reales. Después integramos breakers físicos vía IoT Core, añadimos multi-tenant y alertas con IA, y lo llevamos al mercado europeo.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Frente a otros proyectos del hackathon, no nos quedamos en la visualización: actuamos. Granularidad por fase, stack abierto, accesibilidad desde el día uno y verificación formal con propiedades. Eso convierte una demo bonita en algo que un comprador B2B puede llevar a producción.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Energía bajo control, naturaleza protegida. Smart Energy Control convierte cada edificio en un actor activo del ahorro. Estamos abiertos a preguntas y tenemos demo en vivo lista. Gracias.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hero.png"/>
          <p:cNvPicPr>
            <a:picLocks noChangeAspect="1"/>
          </p:cNvPicPr>
          <p:nvPr/>
        </p:nvPicPr>
        <p:blipFill>
          <a:blip r:embed="rId3"/>
          <a:stretch>
            <a:fillRect/>
          </a:stretch>
        </p:blipFill>
        <p:spPr>
          <a:xfrm>
            <a:off x="0" y="0"/>
            <a:ext cx="12191695" cy="3840480"/>
          </a:xfrm>
          <a:prstGeom prst="rect">
            <a:avLst/>
          </a:prstGeom>
        </p:spPr>
      </p:pic>
      <p:pic>
        <p:nvPicPr>
          <p:cNvPr id="4" name="Picture 3" descr="brand_logo.png"/>
          <p:cNvPicPr>
            <a:picLocks noChangeAspect="1"/>
          </p:cNvPicPr>
          <p:nvPr/>
        </p:nvPicPr>
        <p:blipFill>
          <a:blip r:embed="rId4"/>
          <a:stretch>
            <a:fillRect/>
          </a:stretch>
        </p:blipFill>
        <p:spPr>
          <a:xfrm>
            <a:off x="10086703" y="-297379"/>
            <a:ext cx="2377440" cy="1295533"/>
          </a:xfrm>
          <a:prstGeom prst="rect">
            <a:avLst/>
          </a:prstGeom>
        </p:spPr>
      </p:pic>
      <p:sp>
        <p:nvSpPr>
          <p:cNvPr id="5" name="Rectangle 4"/>
          <p:cNvSpPr/>
          <p:nvPr/>
        </p:nvSpPr>
        <p:spPr>
          <a:xfrm>
            <a:off x="0" y="3291840"/>
            <a:ext cx="12191695" cy="54864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310128"/>
            <a:ext cx="10972800" cy="548640"/>
          </a:xfrm>
          <a:prstGeom prst="rect">
            <a:avLst/>
          </a:prstGeom>
          <a:noFill/>
        </p:spPr>
        <p:txBody>
          <a:bodyPr wrap="square" lIns="0" tIns="0" rIns="0" bIns="0" anchor="t">
            <a:spAutoFit/>
          </a:bodyPr>
          <a:lstStyle/>
          <a:p>
            <a:pPr algn="l"/>
            <a:r>
              <a:rPr sz="2800" b="1">
                <a:solidFill>
                  <a:srgbClr val="FFFFFF"/>
                </a:solidFill>
                <a:latin typeface="Calibri"/>
              </a:rPr>
              <a:t>Smart Energy Control</a:t>
            </a:r>
          </a:p>
        </p:txBody>
      </p:sp>
      <p:sp>
        <p:nvSpPr>
          <p:cNvPr id="7" name="TextBox 6"/>
          <p:cNvSpPr txBox="1"/>
          <p:nvPr/>
        </p:nvSpPr>
        <p:spPr>
          <a:xfrm>
            <a:off x="640080" y="4114800"/>
            <a:ext cx="10972800" cy="640080"/>
          </a:xfrm>
          <a:prstGeom prst="rect">
            <a:avLst/>
          </a:prstGeom>
          <a:noFill/>
        </p:spPr>
        <p:txBody>
          <a:bodyPr wrap="square" lIns="0" tIns="0" rIns="0" bIns="0" anchor="t">
            <a:spAutoFit/>
          </a:bodyPr>
          <a:lstStyle/>
          <a:p>
            <a:pPr algn="l"/>
            <a:r>
              <a:rPr sz="3400" b="1">
                <a:solidFill>
                  <a:srgbClr val="104F3A"/>
                </a:solidFill>
                <a:latin typeface="Calibri"/>
              </a:rPr>
              <a:t>Gestión inteligente de energía para edificios B2B</a:t>
            </a:r>
          </a:p>
        </p:txBody>
      </p:sp>
      <p:sp>
        <p:nvSpPr>
          <p:cNvPr id="8" name="TextBox 7"/>
          <p:cNvSpPr txBox="1"/>
          <p:nvPr/>
        </p:nvSpPr>
        <p:spPr>
          <a:xfrm>
            <a:off x="640080" y="4800600"/>
            <a:ext cx="10972800" cy="548640"/>
          </a:xfrm>
          <a:prstGeom prst="rect">
            <a:avLst/>
          </a:prstGeom>
          <a:noFill/>
        </p:spPr>
        <p:txBody>
          <a:bodyPr wrap="square" lIns="0" tIns="0" rIns="0" bIns="0" anchor="t">
            <a:spAutoFit/>
          </a:bodyPr>
          <a:lstStyle/>
          <a:p>
            <a:pPr algn="l"/>
            <a:r>
              <a:rPr sz="2000" b="0">
                <a:solidFill>
                  <a:srgbClr val="4B5A52"/>
                </a:solidFill>
                <a:latin typeface="Calibri"/>
              </a:rPr>
              <a:t>Visibilidad en tiempo real · Detección de anomalías · Modo Eco con un clic</a:t>
            </a:r>
          </a:p>
        </p:txBody>
      </p:sp>
      <p:sp>
        <p:nvSpPr>
          <p:cNvPr id="9" name="Rounded Rectangle 8"/>
          <p:cNvSpPr/>
          <p:nvPr/>
        </p:nvSpPr>
        <p:spPr>
          <a:xfrm>
            <a:off x="640080" y="5577840"/>
            <a:ext cx="4754880" cy="502920"/>
          </a:xfrm>
          <a:prstGeom prst="roundRect">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5577840"/>
            <a:ext cx="4754880" cy="502920"/>
          </a:xfrm>
          <a:prstGeom prst="rect">
            <a:avLst/>
          </a:prstGeom>
          <a:noFill/>
        </p:spPr>
        <p:txBody>
          <a:bodyPr wrap="square" lIns="0" tIns="0" rIns="0" bIns="0" anchor="ctr">
            <a:spAutoFit/>
          </a:bodyPr>
          <a:lstStyle/>
          <a:p>
            <a:pPr algn="ctr"/>
            <a:r>
              <a:rPr sz="1600" b="1">
                <a:solidFill>
                  <a:srgbClr val="1F2A24"/>
                </a:solidFill>
                <a:latin typeface="Calibri"/>
              </a:rPr>
              <a:t>Menos consumo · Menos emisiones · Más control</a:t>
            </a:r>
          </a:p>
        </p:txBody>
      </p:sp>
      <p:sp>
        <p:nvSpPr>
          <p:cNvPr id="11" name="TextBox 10"/>
          <p:cNvSpPr txBox="1"/>
          <p:nvPr/>
        </p:nvSpPr>
        <p:spPr>
          <a:xfrm>
            <a:off x="640080" y="6217920"/>
            <a:ext cx="10972800" cy="365760"/>
          </a:xfrm>
          <a:prstGeom prst="rect">
            <a:avLst/>
          </a:prstGeom>
          <a:noFill/>
        </p:spPr>
        <p:txBody>
          <a:bodyPr wrap="square" lIns="0" tIns="0" rIns="0" bIns="0" anchor="t">
            <a:spAutoFit/>
          </a:bodyPr>
          <a:lstStyle/>
          <a:p>
            <a:pPr algn="l"/>
            <a:r>
              <a:rPr sz="1400" b="0">
                <a:solidFill>
                  <a:srgbClr val="4B5A52"/>
                </a:solidFill>
                <a:latin typeface="Calibri"/>
              </a:rPr>
              <a:t>Avance MVP · Hackathon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rand_logo.png"/>
          <p:cNvPicPr>
            <a:picLocks noChangeAspect="1"/>
          </p:cNvPicPr>
          <p:nvPr/>
        </p:nvPicPr>
        <p:blipFill>
          <a:blip r:embed="rId3"/>
          <a:stretch>
            <a:fillRect/>
          </a:stretch>
        </p:blipFill>
        <p:spPr>
          <a:xfrm>
            <a:off x="11018520" y="164592"/>
            <a:ext cx="1005840" cy="548110"/>
          </a:xfrm>
          <a:prstGeom prst="rect">
            <a:avLst/>
          </a:prstGeom>
        </p:spPr>
      </p:pic>
      <p:sp>
        <p:nvSpPr>
          <p:cNvPr id="5" name="TextBox 4"/>
          <p:cNvSpPr txBox="1"/>
          <p:nvPr/>
        </p:nvSpPr>
        <p:spPr>
          <a:xfrm>
            <a:off x="640080" y="457200"/>
            <a:ext cx="10972800" cy="365760"/>
          </a:xfrm>
          <a:prstGeom prst="rect">
            <a:avLst/>
          </a:prstGeom>
          <a:noFill/>
        </p:spPr>
        <p:txBody>
          <a:bodyPr wrap="square" lIns="0" tIns="0" rIns="0" bIns="0" anchor="t">
            <a:spAutoFit/>
          </a:bodyPr>
          <a:lstStyle/>
          <a:p>
            <a:pPr algn="l"/>
            <a:r>
              <a:rPr sz="1200" b="1">
                <a:solidFill>
                  <a:srgbClr val="2E8B57"/>
                </a:solidFill>
                <a:latin typeface="Calibri"/>
              </a:rPr>
              <a:t>EL PROBLEMA</a:t>
            </a:r>
          </a:p>
        </p:txBody>
      </p:sp>
      <p:sp>
        <p:nvSpPr>
          <p:cNvPr id="6" name="TextBox 5"/>
          <p:cNvSpPr txBox="1"/>
          <p:nvPr/>
        </p:nvSpPr>
        <p:spPr>
          <a:xfrm>
            <a:off x="640080" y="777240"/>
            <a:ext cx="10972800" cy="822960"/>
          </a:xfrm>
          <a:prstGeom prst="rect">
            <a:avLst/>
          </a:prstGeom>
          <a:noFill/>
        </p:spPr>
        <p:txBody>
          <a:bodyPr wrap="square" lIns="0" tIns="0" rIns="0" bIns="0" anchor="t">
            <a:spAutoFit/>
          </a:bodyPr>
          <a:lstStyle/>
          <a:p>
            <a:pPr algn="l"/>
            <a:r>
              <a:rPr sz="3400" b="1">
                <a:solidFill>
                  <a:srgbClr val="104F3A"/>
                </a:solidFill>
                <a:latin typeface="Calibri"/>
              </a:rPr>
              <a:t>Los edificios consumen sin saber dónde ni cuándo</a:t>
            </a:r>
          </a:p>
        </p:txBody>
      </p:sp>
      <p:sp>
        <p:nvSpPr>
          <p:cNvPr id="7" name="TextBox 6"/>
          <p:cNvSpPr txBox="1"/>
          <p:nvPr/>
        </p:nvSpPr>
        <p:spPr>
          <a:xfrm>
            <a:off x="640080" y="1554480"/>
            <a:ext cx="10972800" cy="548640"/>
          </a:xfrm>
          <a:prstGeom prst="rect">
            <a:avLst/>
          </a:prstGeom>
          <a:noFill/>
        </p:spPr>
        <p:txBody>
          <a:bodyPr wrap="square" lIns="0" tIns="0" rIns="0" bIns="0" anchor="t">
            <a:spAutoFit/>
          </a:bodyPr>
          <a:lstStyle/>
          <a:p>
            <a:pPr algn="l"/>
            <a:r>
              <a:rPr sz="1800" b="0">
                <a:solidFill>
                  <a:srgbClr val="4B5A52"/>
                </a:solidFill>
                <a:latin typeface="Calibri"/>
              </a:rPr>
              <a:t>Datos dispersos, facturas sorpresa y nula reacción ante picos de consumo</a:t>
            </a:r>
          </a:p>
        </p:txBody>
      </p:sp>
      <p:sp>
        <p:nvSpPr>
          <p:cNvPr id="8" name="TextBox 7"/>
          <p:cNvSpPr txBox="1"/>
          <p:nvPr/>
        </p:nvSpPr>
        <p:spPr>
          <a:xfrm>
            <a:off x="457200" y="6446520"/>
            <a:ext cx="7315200" cy="320040"/>
          </a:xfrm>
          <a:prstGeom prst="rect">
            <a:avLst/>
          </a:prstGeom>
          <a:noFill/>
        </p:spPr>
        <p:txBody>
          <a:bodyPr wrap="square" lIns="0" tIns="0" rIns="0" bIns="0" anchor="t">
            <a:spAutoFit/>
          </a:bodyPr>
          <a:lstStyle/>
          <a:p>
            <a:pPr algn="l"/>
            <a:r>
              <a:rPr sz="1100" b="0">
                <a:solidFill>
                  <a:srgbClr val="4B5A52"/>
                </a:solidFill>
                <a:latin typeface="Calibri"/>
              </a:rPr>
              <a:t>Smart Energy Control · Hackathon Demo</a:t>
            </a:r>
          </a:p>
        </p:txBody>
      </p:sp>
      <p:sp>
        <p:nvSpPr>
          <p:cNvPr id="9" name="TextBox 8"/>
          <p:cNvSpPr txBox="1"/>
          <p:nvPr/>
        </p:nvSpPr>
        <p:spPr>
          <a:xfrm>
            <a:off x="10515600" y="6446520"/>
            <a:ext cx="1280160" cy="320040"/>
          </a:xfrm>
          <a:prstGeom prst="rect">
            <a:avLst/>
          </a:prstGeom>
          <a:noFill/>
        </p:spPr>
        <p:txBody>
          <a:bodyPr wrap="square" lIns="0" tIns="0" rIns="0" bIns="0" anchor="t">
            <a:spAutoFit/>
          </a:bodyPr>
          <a:lstStyle/>
          <a:p>
            <a:pPr algn="r"/>
            <a:r>
              <a:rPr sz="1100" b="0">
                <a:solidFill>
                  <a:srgbClr val="4B5A52"/>
                </a:solidFill>
                <a:latin typeface="Calibri"/>
              </a:rPr>
              <a:t>2 / 14</a:t>
            </a:r>
          </a:p>
        </p:txBody>
      </p:sp>
      <p:pic>
        <p:nvPicPr>
          <p:cNvPr id="10" name="Picture 9" descr="problem_meter.png"/>
          <p:cNvPicPr>
            <a:picLocks noChangeAspect="1"/>
          </p:cNvPicPr>
          <p:nvPr/>
        </p:nvPicPr>
        <p:blipFill>
          <a:blip r:embed="rId4"/>
          <a:stretch>
            <a:fillRect/>
          </a:stretch>
        </p:blipFill>
        <p:spPr>
          <a:xfrm>
            <a:off x="6949440" y="2194560"/>
            <a:ext cx="4754880" cy="3169920"/>
          </a:xfrm>
          <a:prstGeom prst="rect">
            <a:avLst/>
          </a:prstGeom>
        </p:spPr>
      </p:pic>
      <p:sp>
        <p:nvSpPr>
          <p:cNvPr id="11" name="TextBox 10"/>
          <p:cNvSpPr txBox="1"/>
          <p:nvPr/>
        </p:nvSpPr>
        <p:spPr>
          <a:xfrm>
            <a:off x="640080" y="2377440"/>
            <a:ext cx="6217920" cy="3657600"/>
          </a:xfrm>
          <a:prstGeom prst="rect">
            <a:avLst/>
          </a:prstGeom>
          <a:noFill/>
        </p:spPr>
        <p:txBody>
          <a:bodyPr wrap="square" lIns="0">
            <a:spAutoFit/>
          </a:bodyPr>
          <a:lstStyle/>
          <a:p>
            <a:pPr algn="l">
              <a:spcAft>
                <a:spcPts val="800"/>
              </a:spcAft>
            </a:pPr>
            <a:r>
              <a:rPr sz="1800" b="1">
                <a:solidFill>
                  <a:srgbClr val="2E8B57"/>
                </a:solidFill>
                <a:latin typeface="Calibri"/>
              </a:rPr>
              <a:t>▎ </a:t>
            </a:r>
            <a:r>
              <a:rPr sz="1800">
                <a:solidFill>
                  <a:srgbClr val="1F2A24"/>
                </a:solidFill>
                <a:latin typeface="Calibri"/>
              </a:rPr>
              <a:t>30-40% del consumo eléctrico mundial proviene de edificios.</a:t>
            </a:r>
          </a:p>
          <a:p>
            <a:pPr algn="l">
              <a:spcAft>
                <a:spcPts val="800"/>
              </a:spcAft>
            </a:pPr>
            <a:r>
              <a:rPr sz="1800" b="1">
                <a:solidFill>
                  <a:srgbClr val="2E8B57"/>
                </a:solidFill>
                <a:latin typeface="Calibri"/>
              </a:rPr>
              <a:t>▎ </a:t>
            </a:r>
            <a:r>
              <a:rPr sz="1800">
                <a:solidFill>
                  <a:srgbClr val="1F2A24"/>
                </a:solidFill>
                <a:latin typeface="Calibri"/>
              </a:rPr>
              <a:t>Los gestores ven la factura, pero no la fase ni el equipo culpable.</a:t>
            </a:r>
          </a:p>
          <a:p>
            <a:pPr algn="l">
              <a:spcAft>
                <a:spcPts val="800"/>
              </a:spcAft>
            </a:pPr>
            <a:r>
              <a:rPr sz="1800" b="1">
                <a:solidFill>
                  <a:srgbClr val="2E8B57"/>
                </a:solidFill>
                <a:latin typeface="Calibri"/>
              </a:rPr>
              <a:t>▎ </a:t>
            </a:r>
            <a:r>
              <a:rPr sz="1800">
                <a:solidFill>
                  <a:srgbClr val="1F2A24"/>
                </a:solidFill>
                <a:latin typeface="Calibri"/>
              </a:rPr>
              <a:t>Las anomalías (consumos fuera de patrón) pasan desapercibidas durante días.</a:t>
            </a:r>
          </a:p>
          <a:p>
            <a:pPr algn="l">
              <a:spcAft>
                <a:spcPts val="800"/>
              </a:spcAft>
            </a:pPr>
            <a:r>
              <a:rPr sz="1800" b="1">
                <a:solidFill>
                  <a:srgbClr val="2E8B57"/>
                </a:solidFill>
                <a:latin typeface="Calibri"/>
              </a:rPr>
              <a:t>▎ </a:t>
            </a:r>
            <a:r>
              <a:rPr sz="1800">
                <a:solidFill>
                  <a:srgbClr val="1F2A24"/>
                </a:solidFill>
                <a:latin typeface="Calibri"/>
              </a:rPr>
              <a:t>Apagar manualmente cargas no críticas requiere coordinación lenta.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rand_logo.png"/>
          <p:cNvPicPr>
            <a:picLocks noChangeAspect="1"/>
          </p:cNvPicPr>
          <p:nvPr/>
        </p:nvPicPr>
        <p:blipFill>
          <a:blip r:embed="rId3"/>
          <a:stretch>
            <a:fillRect/>
          </a:stretch>
        </p:blipFill>
        <p:spPr>
          <a:xfrm>
            <a:off x="11018520" y="164592"/>
            <a:ext cx="1005840" cy="548110"/>
          </a:xfrm>
          <a:prstGeom prst="rect">
            <a:avLst/>
          </a:prstGeom>
        </p:spPr>
      </p:pic>
      <p:sp>
        <p:nvSpPr>
          <p:cNvPr id="5" name="TextBox 4"/>
          <p:cNvSpPr txBox="1"/>
          <p:nvPr/>
        </p:nvSpPr>
        <p:spPr>
          <a:xfrm>
            <a:off x="640080" y="457200"/>
            <a:ext cx="10972800" cy="365760"/>
          </a:xfrm>
          <a:prstGeom prst="rect">
            <a:avLst/>
          </a:prstGeom>
          <a:noFill/>
        </p:spPr>
        <p:txBody>
          <a:bodyPr wrap="square" lIns="0" tIns="0" rIns="0" bIns="0" anchor="t">
            <a:spAutoFit/>
          </a:bodyPr>
          <a:lstStyle/>
          <a:p>
            <a:pPr algn="l"/>
            <a:r>
              <a:rPr sz="1200" b="1">
                <a:solidFill>
                  <a:srgbClr val="2E8B57"/>
                </a:solidFill>
                <a:latin typeface="Calibri"/>
              </a:rPr>
              <a:t>LA SOLUCIÓN</a:t>
            </a:r>
          </a:p>
        </p:txBody>
      </p:sp>
      <p:sp>
        <p:nvSpPr>
          <p:cNvPr id="6" name="TextBox 5"/>
          <p:cNvSpPr txBox="1"/>
          <p:nvPr/>
        </p:nvSpPr>
        <p:spPr>
          <a:xfrm>
            <a:off x="640080" y="777240"/>
            <a:ext cx="10972800" cy="822960"/>
          </a:xfrm>
          <a:prstGeom prst="rect">
            <a:avLst/>
          </a:prstGeom>
          <a:noFill/>
        </p:spPr>
        <p:txBody>
          <a:bodyPr wrap="square" lIns="0" tIns="0" rIns="0" bIns="0" anchor="t">
            <a:spAutoFit/>
          </a:bodyPr>
          <a:lstStyle/>
          <a:p>
            <a:pPr algn="l"/>
            <a:r>
              <a:rPr sz="3400" b="1">
                <a:solidFill>
                  <a:srgbClr val="104F3A"/>
                </a:solidFill>
                <a:latin typeface="Calibri"/>
              </a:rPr>
              <a:t>Un panel B2B que ve, alerta y actúa</a:t>
            </a:r>
          </a:p>
        </p:txBody>
      </p:sp>
      <p:sp>
        <p:nvSpPr>
          <p:cNvPr id="7" name="TextBox 6"/>
          <p:cNvSpPr txBox="1"/>
          <p:nvPr/>
        </p:nvSpPr>
        <p:spPr>
          <a:xfrm>
            <a:off x="640080" y="1554480"/>
            <a:ext cx="10972800" cy="548640"/>
          </a:xfrm>
          <a:prstGeom prst="rect">
            <a:avLst/>
          </a:prstGeom>
          <a:noFill/>
        </p:spPr>
        <p:txBody>
          <a:bodyPr wrap="square" lIns="0" tIns="0" rIns="0" bIns="0" anchor="t">
            <a:spAutoFit/>
          </a:bodyPr>
          <a:lstStyle/>
          <a:p>
            <a:pPr algn="l"/>
            <a:r>
              <a:rPr sz="1800" b="0">
                <a:solidFill>
                  <a:srgbClr val="4B5A52"/>
                </a:solidFill>
                <a:latin typeface="Calibri"/>
              </a:rPr>
              <a:t>Streamlit + telemetría en tiempo real + Modo Eco granular por fase</a:t>
            </a:r>
          </a:p>
        </p:txBody>
      </p:sp>
      <p:sp>
        <p:nvSpPr>
          <p:cNvPr id="8" name="TextBox 7"/>
          <p:cNvSpPr txBox="1"/>
          <p:nvPr/>
        </p:nvSpPr>
        <p:spPr>
          <a:xfrm>
            <a:off x="457200" y="6446520"/>
            <a:ext cx="7315200" cy="320040"/>
          </a:xfrm>
          <a:prstGeom prst="rect">
            <a:avLst/>
          </a:prstGeom>
          <a:noFill/>
        </p:spPr>
        <p:txBody>
          <a:bodyPr wrap="square" lIns="0" tIns="0" rIns="0" bIns="0" anchor="t">
            <a:spAutoFit/>
          </a:bodyPr>
          <a:lstStyle/>
          <a:p>
            <a:pPr algn="l"/>
            <a:r>
              <a:rPr sz="1100" b="0">
                <a:solidFill>
                  <a:srgbClr val="4B5A52"/>
                </a:solidFill>
                <a:latin typeface="Calibri"/>
              </a:rPr>
              <a:t>Smart Energy Control · Hackathon Demo</a:t>
            </a:r>
          </a:p>
        </p:txBody>
      </p:sp>
      <p:sp>
        <p:nvSpPr>
          <p:cNvPr id="9" name="TextBox 8"/>
          <p:cNvSpPr txBox="1"/>
          <p:nvPr/>
        </p:nvSpPr>
        <p:spPr>
          <a:xfrm>
            <a:off x="10515600" y="6446520"/>
            <a:ext cx="1280160" cy="320040"/>
          </a:xfrm>
          <a:prstGeom prst="rect">
            <a:avLst/>
          </a:prstGeom>
          <a:noFill/>
        </p:spPr>
        <p:txBody>
          <a:bodyPr wrap="square" lIns="0" tIns="0" rIns="0" bIns="0" anchor="t">
            <a:spAutoFit/>
          </a:bodyPr>
          <a:lstStyle/>
          <a:p>
            <a:pPr algn="r"/>
            <a:r>
              <a:rPr sz="1100" b="0">
                <a:solidFill>
                  <a:srgbClr val="4B5A52"/>
                </a:solidFill>
                <a:latin typeface="Calibri"/>
              </a:rPr>
              <a:t>3 / 14</a:t>
            </a:r>
          </a:p>
        </p:txBody>
      </p:sp>
      <p:pic>
        <p:nvPicPr>
          <p:cNvPr id="10" name="Picture 9" descr="imagen.png"/>
          <p:cNvPicPr>
            <a:picLocks noChangeAspect="1"/>
          </p:cNvPicPr>
          <p:nvPr/>
        </p:nvPicPr>
        <p:blipFill>
          <a:blip r:embed="rId4"/>
          <a:stretch>
            <a:fillRect/>
          </a:stretch>
        </p:blipFill>
        <p:spPr>
          <a:xfrm>
            <a:off x="640080" y="2194560"/>
            <a:ext cx="7498079" cy="3155442"/>
          </a:xfrm>
          <a:prstGeom prst="rect">
            <a:avLst/>
          </a:prstGeom>
        </p:spPr>
      </p:pic>
      <p:sp>
        <p:nvSpPr>
          <p:cNvPr id="11" name="TextBox 10"/>
          <p:cNvSpPr txBox="1"/>
          <p:nvPr/>
        </p:nvSpPr>
        <p:spPr>
          <a:xfrm>
            <a:off x="8321040" y="2286000"/>
            <a:ext cx="3383280" cy="4114800"/>
          </a:xfrm>
          <a:prstGeom prst="rect">
            <a:avLst/>
          </a:prstGeom>
          <a:noFill/>
        </p:spPr>
        <p:txBody>
          <a:bodyPr wrap="square" lIns="0">
            <a:spAutoFit/>
          </a:bodyPr>
          <a:lstStyle/>
          <a:p>
            <a:pPr algn="l">
              <a:spcAft>
                <a:spcPts val="800"/>
              </a:spcAft>
            </a:pPr>
            <a:r>
              <a:rPr sz="1600" b="1">
                <a:solidFill>
                  <a:srgbClr val="2E8B57"/>
                </a:solidFill>
                <a:latin typeface="Calibri"/>
              </a:rPr>
              <a:t>▎ </a:t>
            </a:r>
            <a:r>
              <a:rPr sz="1600">
                <a:solidFill>
                  <a:srgbClr val="1F2A24"/>
                </a:solidFill>
                <a:latin typeface="Calibri"/>
              </a:rPr>
              <a:t>Mapa con todos los edificios.</a:t>
            </a:r>
          </a:p>
          <a:p>
            <a:pPr algn="l">
              <a:spcAft>
                <a:spcPts val="800"/>
              </a:spcAft>
            </a:pPr>
            <a:r>
              <a:rPr sz="1600" b="1">
                <a:solidFill>
                  <a:srgbClr val="2E8B57"/>
                </a:solidFill>
                <a:latin typeface="Calibri"/>
              </a:rPr>
              <a:t>▎ </a:t>
            </a:r>
            <a:r>
              <a:rPr sz="1600">
                <a:solidFill>
                  <a:srgbClr val="1F2A24"/>
                </a:solidFill>
                <a:latin typeface="Calibri"/>
              </a:rPr>
              <a:t>KPIs vivos: kWh, €/MWh, anomalías.</a:t>
            </a:r>
          </a:p>
          <a:p>
            <a:pPr algn="l">
              <a:spcAft>
                <a:spcPts val="800"/>
              </a:spcAft>
            </a:pPr>
            <a:r>
              <a:rPr sz="1600" b="1">
                <a:solidFill>
                  <a:srgbClr val="2E8B57"/>
                </a:solidFill>
                <a:latin typeface="Calibri"/>
              </a:rPr>
              <a:t>▎ </a:t>
            </a:r>
            <a:r>
              <a:rPr sz="1600">
                <a:solidFill>
                  <a:srgbClr val="1F2A24"/>
                </a:solidFill>
                <a:latin typeface="Calibri"/>
              </a:rPr>
              <a:t>Curvas por fase con marcadores visuales.</a:t>
            </a:r>
          </a:p>
          <a:p>
            <a:pPr algn="l">
              <a:spcAft>
                <a:spcPts val="800"/>
              </a:spcAft>
            </a:pPr>
            <a:r>
              <a:rPr sz="1600" b="1">
                <a:solidFill>
                  <a:srgbClr val="2E8B57"/>
                </a:solidFill>
                <a:latin typeface="Calibri"/>
              </a:rPr>
              <a:t>▎ </a:t>
            </a:r>
            <a:r>
              <a:rPr sz="1600">
                <a:solidFill>
                  <a:srgbClr val="1F2A24"/>
                </a:solidFill>
                <a:latin typeface="Calibri"/>
              </a:rPr>
              <a:t>Botón de pánico con efecto inmediato.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rand_logo.png"/>
          <p:cNvPicPr>
            <a:picLocks noChangeAspect="1"/>
          </p:cNvPicPr>
          <p:nvPr/>
        </p:nvPicPr>
        <p:blipFill>
          <a:blip r:embed="rId3"/>
          <a:stretch>
            <a:fillRect/>
          </a:stretch>
        </p:blipFill>
        <p:spPr>
          <a:xfrm>
            <a:off x="11018520" y="164592"/>
            <a:ext cx="1005840" cy="548110"/>
          </a:xfrm>
          <a:prstGeom prst="rect">
            <a:avLst/>
          </a:prstGeom>
        </p:spPr>
      </p:pic>
      <p:sp>
        <p:nvSpPr>
          <p:cNvPr id="5" name="TextBox 4"/>
          <p:cNvSpPr txBox="1"/>
          <p:nvPr/>
        </p:nvSpPr>
        <p:spPr>
          <a:xfrm>
            <a:off x="640080" y="457200"/>
            <a:ext cx="10972800" cy="365760"/>
          </a:xfrm>
          <a:prstGeom prst="rect">
            <a:avLst/>
          </a:prstGeom>
          <a:noFill/>
        </p:spPr>
        <p:txBody>
          <a:bodyPr wrap="square" lIns="0" tIns="0" rIns="0" bIns="0" anchor="t">
            <a:spAutoFit/>
          </a:bodyPr>
          <a:lstStyle/>
          <a:p>
            <a:pPr algn="l"/>
            <a:r>
              <a:rPr sz="1200" b="1">
                <a:solidFill>
                  <a:srgbClr val="2E8B57"/>
                </a:solidFill>
                <a:latin typeface="Calibri"/>
              </a:rPr>
              <a:t>VENTAJAS CLAVE</a:t>
            </a:r>
          </a:p>
        </p:txBody>
      </p:sp>
      <p:sp>
        <p:nvSpPr>
          <p:cNvPr id="6" name="TextBox 5"/>
          <p:cNvSpPr txBox="1"/>
          <p:nvPr/>
        </p:nvSpPr>
        <p:spPr>
          <a:xfrm>
            <a:off x="640080" y="777240"/>
            <a:ext cx="10972800" cy="822960"/>
          </a:xfrm>
          <a:prstGeom prst="rect">
            <a:avLst/>
          </a:prstGeom>
          <a:noFill/>
        </p:spPr>
        <p:txBody>
          <a:bodyPr wrap="square" lIns="0" tIns="0" rIns="0" bIns="0" anchor="t">
            <a:spAutoFit/>
          </a:bodyPr>
          <a:lstStyle/>
          <a:p>
            <a:pPr algn="l"/>
            <a:r>
              <a:rPr sz="3400" b="1">
                <a:solidFill>
                  <a:srgbClr val="104F3A"/>
                </a:solidFill>
                <a:latin typeface="Calibri"/>
              </a:rPr>
              <a:t>Por qué Smart Energy Control mueve la aguja</a:t>
            </a:r>
          </a:p>
        </p:txBody>
      </p:sp>
      <p:sp>
        <p:nvSpPr>
          <p:cNvPr id="7" name="TextBox 6"/>
          <p:cNvSpPr txBox="1"/>
          <p:nvPr/>
        </p:nvSpPr>
        <p:spPr>
          <a:xfrm>
            <a:off x="640080" y="1554480"/>
            <a:ext cx="10972800" cy="548640"/>
          </a:xfrm>
          <a:prstGeom prst="rect">
            <a:avLst/>
          </a:prstGeom>
          <a:noFill/>
        </p:spPr>
        <p:txBody>
          <a:bodyPr wrap="square" lIns="0" tIns="0" rIns="0" bIns="0" anchor="t">
            <a:spAutoFit/>
          </a:bodyPr>
          <a:lstStyle/>
          <a:p>
            <a:pPr algn="l"/>
            <a:r>
              <a:rPr sz="1800" b="0">
                <a:solidFill>
                  <a:srgbClr val="4B5A52"/>
                </a:solidFill>
                <a:latin typeface="Calibri"/>
              </a:rPr>
              <a:t>Diseñado alrededor del ahorro, la accesibilidad y la velocidad de reacción</a:t>
            </a:r>
          </a:p>
        </p:txBody>
      </p:sp>
      <p:sp>
        <p:nvSpPr>
          <p:cNvPr id="8" name="TextBox 7"/>
          <p:cNvSpPr txBox="1"/>
          <p:nvPr/>
        </p:nvSpPr>
        <p:spPr>
          <a:xfrm>
            <a:off x="457200" y="6446520"/>
            <a:ext cx="7315200" cy="320040"/>
          </a:xfrm>
          <a:prstGeom prst="rect">
            <a:avLst/>
          </a:prstGeom>
          <a:noFill/>
        </p:spPr>
        <p:txBody>
          <a:bodyPr wrap="square" lIns="0" tIns="0" rIns="0" bIns="0" anchor="t">
            <a:spAutoFit/>
          </a:bodyPr>
          <a:lstStyle/>
          <a:p>
            <a:pPr algn="l"/>
            <a:r>
              <a:rPr sz="1100" b="0">
                <a:solidFill>
                  <a:srgbClr val="4B5A52"/>
                </a:solidFill>
                <a:latin typeface="Calibri"/>
              </a:rPr>
              <a:t>Smart Energy Control · Hackathon Demo</a:t>
            </a:r>
          </a:p>
        </p:txBody>
      </p:sp>
      <p:sp>
        <p:nvSpPr>
          <p:cNvPr id="9" name="TextBox 8"/>
          <p:cNvSpPr txBox="1"/>
          <p:nvPr/>
        </p:nvSpPr>
        <p:spPr>
          <a:xfrm>
            <a:off x="10515600" y="6446520"/>
            <a:ext cx="1280160" cy="320040"/>
          </a:xfrm>
          <a:prstGeom prst="rect">
            <a:avLst/>
          </a:prstGeom>
          <a:noFill/>
        </p:spPr>
        <p:txBody>
          <a:bodyPr wrap="square" lIns="0" tIns="0" rIns="0" bIns="0" anchor="t">
            <a:spAutoFit/>
          </a:bodyPr>
          <a:lstStyle/>
          <a:p>
            <a:pPr algn="r"/>
            <a:r>
              <a:rPr sz="1100" b="0">
                <a:solidFill>
                  <a:srgbClr val="4B5A52"/>
                </a:solidFill>
                <a:latin typeface="Calibri"/>
              </a:rPr>
              <a:t>4 / 14</a:t>
            </a:r>
          </a:p>
        </p:txBody>
      </p:sp>
      <p:sp>
        <p:nvSpPr>
          <p:cNvPr id="10" name="Rounded Rectangle 9"/>
          <p:cNvSpPr/>
          <p:nvPr/>
        </p:nvSpPr>
        <p:spPr>
          <a:xfrm>
            <a:off x="640080" y="2286000"/>
            <a:ext cx="3657600" cy="14173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22960" y="2487168"/>
            <a:ext cx="201168" cy="201168"/>
          </a:xfrm>
          <a:prstGeom prst="ellipse">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2423160"/>
            <a:ext cx="3108960" cy="365760"/>
          </a:xfrm>
          <a:prstGeom prst="rect">
            <a:avLst/>
          </a:prstGeom>
          <a:noFill/>
        </p:spPr>
        <p:txBody>
          <a:bodyPr wrap="square" lIns="0" tIns="0" rIns="0" bIns="0" anchor="t">
            <a:spAutoFit/>
          </a:bodyPr>
          <a:lstStyle/>
          <a:p>
            <a:pPr algn="l"/>
            <a:r>
              <a:rPr sz="1600" b="1">
                <a:solidFill>
                  <a:srgbClr val="104F3A"/>
                </a:solidFill>
                <a:latin typeface="Calibri"/>
              </a:rPr>
              <a:t>Ahorro inmediato</a:t>
            </a:r>
          </a:p>
        </p:txBody>
      </p:sp>
      <p:sp>
        <p:nvSpPr>
          <p:cNvPr id="13" name="TextBox 12"/>
          <p:cNvSpPr txBox="1"/>
          <p:nvPr/>
        </p:nvSpPr>
        <p:spPr>
          <a:xfrm>
            <a:off x="868680" y="2834640"/>
            <a:ext cx="3291840" cy="868680"/>
          </a:xfrm>
          <a:prstGeom prst="rect">
            <a:avLst/>
          </a:prstGeom>
          <a:noFill/>
        </p:spPr>
        <p:txBody>
          <a:bodyPr wrap="square" lIns="0" tIns="0" rIns="0" bIns="0" anchor="t">
            <a:spAutoFit/>
          </a:bodyPr>
          <a:lstStyle/>
          <a:p>
            <a:pPr algn="l"/>
            <a:r>
              <a:rPr sz="1200" b="0">
                <a:solidFill>
                  <a:srgbClr val="1F2A24"/>
                </a:solidFill>
                <a:latin typeface="Calibri"/>
              </a:rPr>
              <a:t>Hasta −40% de consumo en las fases que el operador elige, sin obras.</a:t>
            </a:r>
          </a:p>
        </p:txBody>
      </p:sp>
      <p:sp>
        <p:nvSpPr>
          <p:cNvPr id="14" name="Rounded Rectangle 13"/>
          <p:cNvSpPr/>
          <p:nvPr/>
        </p:nvSpPr>
        <p:spPr>
          <a:xfrm>
            <a:off x="4434840" y="2286000"/>
            <a:ext cx="3657600" cy="14173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617720" y="2487168"/>
            <a:ext cx="201168" cy="201168"/>
          </a:xfrm>
          <a:prstGeom prst="ellipse">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37760" y="2423160"/>
            <a:ext cx="3108960" cy="365760"/>
          </a:xfrm>
          <a:prstGeom prst="rect">
            <a:avLst/>
          </a:prstGeom>
          <a:noFill/>
        </p:spPr>
        <p:txBody>
          <a:bodyPr wrap="square" lIns="0" tIns="0" rIns="0" bIns="0" anchor="t">
            <a:spAutoFit/>
          </a:bodyPr>
          <a:lstStyle/>
          <a:p>
            <a:pPr algn="l"/>
            <a:r>
              <a:rPr sz="1600" b="1">
                <a:solidFill>
                  <a:srgbClr val="104F3A"/>
                </a:solidFill>
                <a:latin typeface="Calibri"/>
              </a:rPr>
              <a:t>Detección de anomalías</a:t>
            </a:r>
          </a:p>
        </p:txBody>
      </p:sp>
      <p:sp>
        <p:nvSpPr>
          <p:cNvPr id="17" name="TextBox 16"/>
          <p:cNvSpPr txBox="1"/>
          <p:nvPr/>
        </p:nvSpPr>
        <p:spPr>
          <a:xfrm>
            <a:off x="4663440" y="2834640"/>
            <a:ext cx="3291840" cy="868680"/>
          </a:xfrm>
          <a:prstGeom prst="rect">
            <a:avLst/>
          </a:prstGeom>
          <a:noFill/>
        </p:spPr>
        <p:txBody>
          <a:bodyPr wrap="square" lIns="0" tIns="0" rIns="0" bIns="0" anchor="t">
            <a:spAutoFit/>
          </a:bodyPr>
          <a:lstStyle/>
          <a:p>
            <a:pPr algn="l"/>
            <a:r>
              <a:rPr sz="1200" b="0">
                <a:solidFill>
                  <a:srgbClr val="1F2A24"/>
                </a:solidFill>
                <a:latin typeface="Calibri"/>
              </a:rPr>
              <a:t>Regla de domingo (×1.40 sobre baseline) y marcadores en mapa y gráfica.</a:t>
            </a:r>
          </a:p>
        </p:txBody>
      </p:sp>
      <p:sp>
        <p:nvSpPr>
          <p:cNvPr id="18" name="Rounded Rectangle 17"/>
          <p:cNvSpPr/>
          <p:nvPr/>
        </p:nvSpPr>
        <p:spPr>
          <a:xfrm>
            <a:off x="8229600" y="2286000"/>
            <a:ext cx="3657600" cy="14173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412480" y="2487168"/>
            <a:ext cx="201168" cy="201168"/>
          </a:xfrm>
          <a:prstGeom prst="ellipse">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32520" y="2423160"/>
            <a:ext cx="3108960" cy="365760"/>
          </a:xfrm>
          <a:prstGeom prst="rect">
            <a:avLst/>
          </a:prstGeom>
          <a:noFill/>
        </p:spPr>
        <p:txBody>
          <a:bodyPr wrap="square" lIns="0" tIns="0" rIns="0" bIns="0" anchor="t">
            <a:spAutoFit/>
          </a:bodyPr>
          <a:lstStyle/>
          <a:p>
            <a:pPr algn="l"/>
            <a:r>
              <a:rPr sz="1600" b="1">
                <a:solidFill>
                  <a:srgbClr val="104F3A"/>
                </a:solidFill>
                <a:latin typeface="Calibri"/>
              </a:rPr>
              <a:t>Control granular</a:t>
            </a:r>
          </a:p>
        </p:txBody>
      </p:sp>
      <p:sp>
        <p:nvSpPr>
          <p:cNvPr id="21" name="TextBox 20"/>
          <p:cNvSpPr txBox="1"/>
          <p:nvPr/>
        </p:nvSpPr>
        <p:spPr>
          <a:xfrm>
            <a:off x="8458200" y="2834640"/>
            <a:ext cx="3291840" cy="868680"/>
          </a:xfrm>
          <a:prstGeom prst="rect">
            <a:avLst/>
          </a:prstGeom>
          <a:noFill/>
        </p:spPr>
        <p:txBody>
          <a:bodyPr wrap="square" lIns="0" tIns="0" rIns="0" bIns="0" anchor="t">
            <a:spAutoFit/>
          </a:bodyPr>
          <a:lstStyle/>
          <a:p>
            <a:pPr algn="l"/>
            <a:r>
              <a:rPr sz="1200" b="0">
                <a:solidFill>
                  <a:srgbClr val="1F2A24"/>
                </a:solidFill>
                <a:latin typeface="Calibri"/>
              </a:rPr>
              <a:t>Modo Eco fase a fase, no "todo o nada". Cero impacto en cargas críticas.</a:t>
            </a:r>
          </a:p>
        </p:txBody>
      </p:sp>
      <p:sp>
        <p:nvSpPr>
          <p:cNvPr id="22" name="Rounded Rectangle 21"/>
          <p:cNvSpPr/>
          <p:nvPr/>
        </p:nvSpPr>
        <p:spPr>
          <a:xfrm>
            <a:off x="640080" y="3886200"/>
            <a:ext cx="3657600" cy="14173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22960" y="4087368"/>
            <a:ext cx="201168" cy="201168"/>
          </a:xfrm>
          <a:prstGeom prst="ellipse">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43000" y="4023360"/>
            <a:ext cx="3108960" cy="365760"/>
          </a:xfrm>
          <a:prstGeom prst="rect">
            <a:avLst/>
          </a:prstGeom>
          <a:noFill/>
        </p:spPr>
        <p:txBody>
          <a:bodyPr wrap="square" lIns="0" tIns="0" rIns="0" bIns="0" anchor="t">
            <a:spAutoFit/>
          </a:bodyPr>
          <a:lstStyle/>
          <a:p>
            <a:pPr algn="l"/>
            <a:r>
              <a:rPr sz="1600" b="1">
                <a:solidFill>
                  <a:srgbClr val="104F3A"/>
                </a:solidFill>
                <a:latin typeface="Calibri"/>
              </a:rPr>
              <a:t>Telemetría 30 s</a:t>
            </a:r>
          </a:p>
        </p:txBody>
      </p:sp>
      <p:sp>
        <p:nvSpPr>
          <p:cNvPr id="25" name="TextBox 24"/>
          <p:cNvSpPr txBox="1"/>
          <p:nvPr/>
        </p:nvSpPr>
        <p:spPr>
          <a:xfrm>
            <a:off x="868680" y="4434840"/>
            <a:ext cx="3291840" cy="868680"/>
          </a:xfrm>
          <a:prstGeom prst="rect">
            <a:avLst/>
          </a:prstGeom>
          <a:noFill/>
        </p:spPr>
        <p:txBody>
          <a:bodyPr wrap="square" lIns="0" tIns="0" rIns="0" bIns="0" anchor="t">
            <a:spAutoFit/>
          </a:bodyPr>
          <a:lstStyle/>
          <a:p>
            <a:pPr algn="l"/>
            <a:r>
              <a:rPr sz="1200" b="0">
                <a:solidFill>
                  <a:srgbClr val="1F2A24"/>
                </a:solidFill>
                <a:latin typeface="Calibri"/>
              </a:rPr>
              <a:t>Lectura cada 30 s con back-off automático y estado API siempre visible.</a:t>
            </a:r>
          </a:p>
        </p:txBody>
      </p:sp>
      <p:sp>
        <p:nvSpPr>
          <p:cNvPr id="26" name="Rounded Rectangle 25"/>
          <p:cNvSpPr/>
          <p:nvPr/>
        </p:nvSpPr>
        <p:spPr>
          <a:xfrm>
            <a:off x="4434840" y="3886200"/>
            <a:ext cx="3657600" cy="14173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617720" y="4087368"/>
            <a:ext cx="201168" cy="201168"/>
          </a:xfrm>
          <a:prstGeom prst="ellipse">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37760" y="4023360"/>
            <a:ext cx="3108960" cy="365760"/>
          </a:xfrm>
          <a:prstGeom prst="rect">
            <a:avLst/>
          </a:prstGeom>
          <a:noFill/>
        </p:spPr>
        <p:txBody>
          <a:bodyPr wrap="square" lIns="0" tIns="0" rIns="0" bIns="0" anchor="t">
            <a:spAutoFit/>
          </a:bodyPr>
          <a:lstStyle/>
          <a:p>
            <a:pPr algn="l"/>
            <a:r>
              <a:rPr sz="1600" b="1">
                <a:solidFill>
                  <a:srgbClr val="104F3A"/>
                </a:solidFill>
                <a:latin typeface="Calibri"/>
              </a:rPr>
              <a:t>Accesible WCAG 2.1 AA</a:t>
            </a:r>
          </a:p>
        </p:txBody>
      </p:sp>
      <p:sp>
        <p:nvSpPr>
          <p:cNvPr id="29" name="TextBox 28"/>
          <p:cNvSpPr txBox="1"/>
          <p:nvPr/>
        </p:nvSpPr>
        <p:spPr>
          <a:xfrm>
            <a:off x="4663440" y="4434840"/>
            <a:ext cx="3291840" cy="868680"/>
          </a:xfrm>
          <a:prstGeom prst="rect">
            <a:avLst/>
          </a:prstGeom>
          <a:noFill/>
        </p:spPr>
        <p:txBody>
          <a:bodyPr wrap="square" lIns="0" tIns="0" rIns="0" bIns="0" anchor="t">
            <a:spAutoFit/>
          </a:bodyPr>
          <a:lstStyle/>
          <a:p>
            <a:pPr algn="l"/>
            <a:r>
              <a:rPr sz="1200" b="0">
                <a:solidFill>
                  <a:srgbClr val="1F2A24"/>
                </a:solidFill>
                <a:latin typeface="Calibri"/>
              </a:rPr>
              <a:t>Lectores de pantalla, contraste alto, navegación por teclado.</a:t>
            </a:r>
          </a:p>
        </p:txBody>
      </p:sp>
      <p:sp>
        <p:nvSpPr>
          <p:cNvPr id="30" name="Rounded Rectangle 29"/>
          <p:cNvSpPr/>
          <p:nvPr/>
        </p:nvSpPr>
        <p:spPr>
          <a:xfrm>
            <a:off x="8229600" y="3886200"/>
            <a:ext cx="3657600" cy="14173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412480" y="4087368"/>
            <a:ext cx="201168" cy="201168"/>
          </a:xfrm>
          <a:prstGeom prst="ellipse">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732520" y="4023360"/>
            <a:ext cx="3108960" cy="365760"/>
          </a:xfrm>
          <a:prstGeom prst="rect">
            <a:avLst/>
          </a:prstGeom>
          <a:noFill/>
        </p:spPr>
        <p:txBody>
          <a:bodyPr wrap="square" lIns="0" tIns="0" rIns="0" bIns="0" anchor="t">
            <a:spAutoFit/>
          </a:bodyPr>
          <a:lstStyle/>
          <a:p>
            <a:pPr algn="l"/>
            <a:r>
              <a:rPr sz="1600" b="1">
                <a:solidFill>
                  <a:srgbClr val="104F3A"/>
                </a:solidFill>
                <a:latin typeface="Calibri"/>
              </a:rPr>
              <a:t>Stack abierto</a:t>
            </a:r>
          </a:p>
        </p:txBody>
      </p:sp>
      <p:sp>
        <p:nvSpPr>
          <p:cNvPr id="33" name="TextBox 32"/>
          <p:cNvSpPr txBox="1"/>
          <p:nvPr/>
        </p:nvSpPr>
        <p:spPr>
          <a:xfrm>
            <a:off x="8458200" y="4434840"/>
            <a:ext cx="3291840" cy="868680"/>
          </a:xfrm>
          <a:prstGeom prst="rect">
            <a:avLst/>
          </a:prstGeom>
          <a:noFill/>
        </p:spPr>
        <p:txBody>
          <a:bodyPr wrap="square" lIns="0" tIns="0" rIns="0" bIns="0" anchor="t">
            <a:spAutoFit/>
          </a:bodyPr>
          <a:lstStyle/>
          <a:p>
            <a:pPr algn="l"/>
            <a:r>
              <a:rPr sz="1200" b="0">
                <a:solidFill>
                  <a:srgbClr val="1F2A24"/>
                </a:solidFill>
                <a:latin typeface="Calibri"/>
              </a:rPr>
              <a:t>Python + Streamlit + Flask. Reproducible en local en 2 comandos.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rand_logo.png"/>
          <p:cNvPicPr>
            <a:picLocks noChangeAspect="1"/>
          </p:cNvPicPr>
          <p:nvPr/>
        </p:nvPicPr>
        <p:blipFill>
          <a:blip r:embed="rId3"/>
          <a:stretch>
            <a:fillRect/>
          </a:stretch>
        </p:blipFill>
        <p:spPr>
          <a:xfrm>
            <a:off x="11018520" y="164592"/>
            <a:ext cx="1005840" cy="548110"/>
          </a:xfrm>
          <a:prstGeom prst="rect">
            <a:avLst/>
          </a:prstGeom>
        </p:spPr>
      </p:pic>
      <p:sp>
        <p:nvSpPr>
          <p:cNvPr id="5" name="TextBox 4"/>
          <p:cNvSpPr txBox="1"/>
          <p:nvPr/>
        </p:nvSpPr>
        <p:spPr>
          <a:xfrm>
            <a:off x="640080" y="457200"/>
            <a:ext cx="10972800" cy="365760"/>
          </a:xfrm>
          <a:prstGeom prst="rect">
            <a:avLst/>
          </a:prstGeom>
          <a:noFill/>
        </p:spPr>
        <p:txBody>
          <a:bodyPr wrap="square" lIns="0" tIns="0" rIns="0" bIns="0" anchor="t">
            <a:spAutoFit/>
          </a:bodyPr>
          <a:lstStyle/>
          <a:p>
            <a:pPr algn="l"/>
            <a:r>
              <a:rPr sz="1200" b="1">
                <a:solidFill>
                  <a:srgbClr val="2E8B57"/>
                </a:solidFill>
                <a:latin typeface="Calibri"/>
              </a:rPr>
              <a:t>DEMO DESTACADA</a:t>
            </a:r>
          </a:p>
        </p:txBody>
      </p:sp>
      <p:sp>
        <p:nvSpPr>
          <p:cNvPr id="6" name="TextBox 5"/>
          <p:cNvSpPr txBox="1"/>
          <p:nvPr/>
        </p:nvSpPr>
        <p:spPr>
          <a:xfrm>
            <a:off x="640080" y="777240"/>
            <a:ext cx="10972800" cy="822960"/>
          </a:xfrm>
          <a:prstGeom prst="rect">
            <a:avLst/>
          </a:prstGeom>
          <a:noFill/>
        </p:spPr>
        <p:txBody>
          <a:bodyPr wrap="square" lIns="0" tIns="0" rIns="0" bIns="0" anchor="t">
            <a:spAutoFit/>
          </a:bodyPr>
          <a:lstStyle/>
          <a:p>
            <a:pPr algn="l"/>
            <a:r>
              <a:rPr sz="3400" b="1">
                <a:solidFill>
                  <a:srgbClr val="104F3A"/>
                </a:solidFill>
                <a:latin typeface="Calibri"/>
              </a:rPr>
              <a:t>Botón de Pánico granular: del clic al ahorro en segundos</a:t>
            </a:r>
          </a:p>
        </p:txBody>
      </p:sp>
      <p:sp>
        <p:nvSpPr>
          <p:cNvPr id="7" name="TextBox 6"/>
          <p:cNvSpPr txBox="1"/>
          <p:nvPr/>
        </p:nvSpPr>
        <p:spPr>
          <a:xfrm>
            <a:off x="640080" y="1554480"/>
            <a:ext cx="10972800" cy="548640"/>
          </a:xfrm>
          <a:prstGeom prst="rect">
            <a:avLst/>
          </a:prstGeom>
          <a:noFill/>
        </p:spPr>
        <p:txBody>
          <a:bodyPr wrap="square" lIns="0" tIns="0" rIns="0" bIns="0" anchor="t">
            <a:spAutoFit/>
          </a:bodyPr>
          <a:lstStyle/>
          <a:p>
            <a:pPr algn="l"/>
            <a:r>
              <a:rPr sz="1800" b="0">
                <a:solidFill>
                  <a:srgbClr val="4B5A52"/>
                </a:solidFill>
                <a:latin typeface="Calibri"/>
              </a:rPr>
              <a:t>Marca las fases, confirma, y el webhook propaga Modo Eco al hardware simulado</a:t>
            </a:r>
          </a:p>
        </p:txBody>
      </p:sp>
      <p:sp>
        <p:nvSpPr>
          <p:cNvPr id="8" name="TextBox 7"/>
          <p:cNvSpPr txBox="1"/>
          <p:nvPr/>
        </p:nvSpPr>
        <p:spPr>
          <a:xfrm>
            <a:off x="457200" y="6446520"/>
            <a:ext cx="7315200" cy="320040"/>
          </a:xfrm>
          <a:prstGeom prst="rect">
            <a:avLst/>
          </a:prstGeom>
          <a:noFill/>
        </p:spPr>
        <p:txBody>
          <a:bodyPr wrap="square" lIns="0" tIns="0" rIns="0" bIns="0" anchor="t">
            <a:spAutoFit/>
          </a:bodyPr>
          <a:lstStyle/>
          <a:p>
            <a:pPr algn="l"/>
            <a:r>
              <a:rPr sz="1100" b="0">
                <a:solidFill>
                  <a:srgbClr val="4B5A52"/>
                </a:solidFill>
                <a:latin typeface="Calibri"/>
              </a:rPr>
              <a:t>Smart Energy Control · Hackathon Demo</a:t>
            </a:r>
          </a:p>
        </p:txBody>
      </p:sp>
      <p:sp>
        <p:nvSpPr>
          <p:cNvPr id="9" name="TextBox 8"/>
          <p:cNvSpPr txBox="1"/>
          <p:nvPr/>
        </p:nvSpPr>
        <p:spPr>
          <a:xfrm>
            <a:off x="10515600" y="6446520"/>
            <a:ext cx="1280160" cy="320040"/>
          </a:xfrm>
          <a:prstGeom prst="rect">
            <a:avLst/>
          </a:prstGeom>
          <a:noFill/>
        </p:spPr>
        <p:txBody>
          <a:bodyPr wrap="square" lIns="0" tIns="0" rIns="0" bIns="0" anchor="t">
            <a:spAutoFit/>
          </a:bodyPr>
          <a:lstStyle/>
          <a:p>
            <a:pPr algn="r"/>
            <a:r>
              <a:rPr sz="1100" b="0">
                <a:solidFill>
                  <a:srgbClr val="4B5A52"/>
                </a:solidFill>
                <a:latin typeface="Calibri"/>
              </a:rPr>
              <a:t>5 / 14</a:t>
            </a:r>
          </a:p>
        </p:txBody>
      </p:sp>
      <p:pic>
        <p:nvPicPr>
          <p:cNvPr id="10" name="Picture 9" descr="imagen2.png"/>
          <p:cNvPicPr>
            <a:picLocks noChangeAspect="1"/>
          </p:cNvPicPr>
          <p:nvPr/>
        </p:nvPicPr>
        <p:blipFill>
          <a:blip r:embed="rId4"/>
          <a:stretch>
            <a:fillRect/>
          </a:stretch>
        </p:blipFill>
        <p:spPr>
          <a:xfrm>
            <a:off x="640080" y="2194560"/>
            <a:ext cx="6400800" cy="2943434"/>
          </a:xfrm>
          <a:prstGeom prst="rect">
            <a:avLst/>
          </a:prstGeom>
        </p:spPr>
      </p:pic>
      <p:sp>
        <p:nvSpPr>
          <p:cNvPr id="11" name="TextBox 10"/>
          <p:cNvSpPr txBox="1"/>
          <p:nvPr/>
        </p:nvSpPr>
        <p:spPr>
          <a:xfrm>
            <a:off x="7406640" y="2286000"/>
            <a:ext cx="4297680" cy="4114800"/>
          </a:xfrm>
          <a:prstGeom prst="rect">
            <a:avLst/>
          </a:prstGeom>
          <a:noFill/>
        </p:spPr>
        <p:txBody>
          <a:bodyPr wrap="square" lIns="0">
            <a:spAutoFit/>
          </a:bodyPr>
          <a:lstStyle/>
          <a:p>
            <a:pPr algn="l">
              <a:spcAft>
                <a:spcPts val="800"/>
              </a:spcAft>
            </a:pPr>
            <a:r>
              <a:rPr sz="1500" b="1">
                <a:solidFill>
                  <a:srgbClr val="2E8B57"/>
                </a:solidFill>
                <a:latin typeface="Calibri"/>
              </a:rPr>
              <a:t>▎ </a:t>
            </a:r>
            <a:r>
              <a:rPr sz="1500">
                <a:solidFill>
                  <a:srgbClr val="1F2A24"/>
                </a:solidFill>
                <a:latin typeface="Calibri"/>
              </a:rPr>
              <a:t>1. El operador ve un pico anómalo.</a:t>
            </a:r>
          </a:p>
          <a:p>
            <a:pPr algn="l">
              <a:spcAft>
                <a:spcPts val="800"/>
              </a:spcAft>
            </a:pPr>
            <a:r>
              <a:rPr sz="1500" b="1">
                <a:solidFill>
                  <a:srgbClr val="2E8B57"/>
                </a:solidFill>
                <a:latin typeface="Calibri"/>
              </a:rPr>
              <a:t>▎ </a:t>
            </a:r>
            <a:r>
              <a:rPr sz="1500">
                <a:solidFill>
                  <a:srgbClr val="1F2A24"/>
                </a:solidFill>
                <a:latin typeface="Calibri"/>
              </a:rPr>
              <a:t>2. Selecciona qué fases pasan a Eco.</a:t>
            </a:r>
          </a:p>
          <a:p>
            <a:pPr algn="l">
              <a:spcAft>
                <a:spcPts val="800"/>
              </a:spcAft>
            </a:pPr>
            <a:r>
              <a:rPr sz="1500" b="1">
                <a:solidFill>
                  <a:srgbClr val="2E8B57"/>
                </a:solidFill>
                <a:latin typeface="Calibri"/>
              </a:rPr>
              <a:t>▎ </a:t>
            </a:r>
            <a:r>
              <a:rPr sz="1500">
                <a:solidFill>
                  <a:srgbClr val="1F2A24"/>
                </a:solidFill>
                <a:latin typeface="Calibri"/>
              </a:rPr>
              <a:t>3. Confirma con un único botón.</a:t>
            </a:r>
          </a:p>
          <a:p>
            <a:pPr algn="l">
              <a:spcAft>
                <a:spcPts val="800"/>
              </a:spcAft>
            </a:pPr>
            <a:r>
              <a:rPr sz="1500" b="1">
                <a:solidFill>
                  <a:srgbClr val="2E8B57"/>
                </a:solidFill>
                <a:latin typeface="Calibri"/>
              </a:rPr>
              <a:t>▎ </a:t>
            </a:r>
            <a:r>
              <a:rPr sz="1500">
                <a:solidFill>
                  <a:srgbClr val="1F2A24"/>
                </a:solidFill>
                <a:latin typeface="Calibri"/>
              </a:rPr>
              <a:t>4. Webhook → API → −40% en esas fases.</a:t>
            </a:r>
          </a:p>
          <a:p>
            <a:pPr algn="l">
              <a:spcAft>
                <a:spcPts val="800"/>
              </a:spcAft>
            </a:pPr>
            <a:r>
              <a:rPr sz="1500" b="1">
                <a:solidFill>
                  <a:srgbClr val="2E8B57"/>
                </a:solidFill>
                <a:latin typeface="Calibri"/>
              </a:rPr>
              <a:t>▎ </a:t>
            </a:r>
            <a:r>
              <a:rPr sz="1500">
                <a:solidFill>
                  <a:srgbClr val="1F2A24"/>
                </a:solidFill>
                <a:latin typeface="Calibri"/>
              </a:rPr>
              <a:t>5. Estado se anuncia por aria-live (a11y).</a:t>
            </a:r>
          </a:p>
          <a:p>
            <a:pPr algn="l">
              <a:spcAft>
                <a:spcPts val="800"/>
              </a:spcAft>
            </a:pPr>
            <a:r>
              <a:rPr sz="1500" b="1">
                <a:solidFill>
                  <a:srgbClr val="2E8B57"/>
                </a:solidFill>
                <a:latin typeface="Calibri"/>
              </a:rPr>
              <a:t>▎ </a:t>
            </a:r>
            <a:r>
              <a:rPr sz="1500">
                <a:solidFill>
                  <a:srgbClr val="1F2A24"/>
                </a:solidFill>
                <a:latin typeface="Calibri"/>
              </a:rPr>
              <a:t>6. Cargas críticas siguen intactas.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rand_logo.png"/>
          <p:cNvPicPr>
            <a:picLocks noChangeAspect="1"/>
          </p:cNvPicPr>
          <p:nvPr/>
        </p:nvPicPr>
        <p:blipFill>
          <a:blip r:embed="rId3"/>
          <a:stretch>
            <a:fillRect/>
          </a:stretch>
        </p:blipFill>
        <p:spPr>
          <a:xfrm>
            <a:off x="11018520" y="164592"/>
            <a:ext cx="1005840" cy="548110"/>
          </a:xfrm>
          <a:prstGeom prst="rect">
            <a:avLst/>
          </a:prstGeom>
        </p:spPr>
      </p:pic>
      <p:sp>
        <p:nvSpPr>
          <p:cNvPr id="5" name="TextBox 4"/>
          <p:cNvSpPr txBox="1"/>
          <p:nvPr/>
        </p:nvSpPr>
        <p:spPr>
          <a:xfrm>
            <a:off x="640080" y="457200"/>
            <a:ext cx="10972800" cy="365760"/>
          </a:xfrm>
          <a:prstGeom prst="rect">
            <a:avLst/>
          </a:prstGeom>
          <a:noFill/>
        </p:spPr>
        <p:txBody>
          <a:bodyPr wrap="square" lIns="0" tIns="0" rIns="0" bIns="0" anchor="t">
            <a:spAutoFit/>
          </a:bodyPr>
          <a:lstStyle/>
          <a:p>
            <a:pPr algn="l"/>
            <a:r>
              <a:rPr sz="1200" b="1">
                <a:solidFill>
                  <a:srgbClr val="2E8B57"/>
                </a:solidFill>
                <a:latin typeface="Calibri"/>
              </a:rPr>
              <a:t>EL PRODUCTO EN VIVO</a:t>
            </a:r>
          </a:p>
        </p:txBody>
      </p:sp>
      <p:sp>
        <p:nvSpPr>
          <p:cNvPr id="6" name="TextBox 5"/>
          <p:cNvSpPr txBox="1"/>
          <p:nvPr/>
        </p:nvSpPr>
        <p:spPr>
          <a:xfrm>
            <a:off x="640080" y="777240"/>
            <a:ext cx="10972800" cy="822960"/>
          </a:xfrm>
          <a:prstGeom prst="rect">
            <a:avLst/>
          </a:prstGeom>
          <a:noFill/>
        </p:spPr>
        <p:txBody>
          <a:bodyPr wrap="square" lIns="0" tIns="0" rIns="0" bIns="0" anchor="t">
            <a:spAutoFit/>
          </a:bodyPr>
          <a:lstStyle/>
          <a:p>
            <a:pPr algn="l"/>
            <a:r>
              <a:rPr sz="3400" b="1">
                <a:solidFill>
                  <a:srgbClr val="104F3A"/>
                </a:solidFill>
                <a:latin typeface="Calibri"/>
              </a:rPr>
              <a:t>Capturas reales del dashboard en marcha</a:t>
            </a:r>
          </a:p>
        </p:txBody>
      </p:sp>
      <p:sp>
        <p:nvSpPr>
          <p:cNvPr id="7" name="TextBox 6"/>
          <p:cNvSpPr txBox="1"/>
          <p:nvPr/>
        </p:nvSpPr>
        <p:spPr>
          <a:xfrm>
            <a:off x="640080" y="1554480"/>
            <a:ext cx="10972800" cy="548640"/>
          </a:xfrm>
          <a:prstGeom prst="rect">
            <a:avLst/>
          </a:prstGeom>
          <a:noFill/>
        </p:spPr>
        <p:txBody>
          <a:bodyPr wrap="square" lIns="0" tIns="0" rIns="0" bIns="0" anchor="t">
            <a:spAutoFit/>
          </a:bodyPr>
          <a:lstStyle/>
          <a:p>
            <a:pPr algn="l"/>
            <a:r>
              <a:rPr sz="1800" b="0">
                <a:solidFill>
                  <a:srgbClr val="4B5A52"/>
                </a:solidFill>
                <a:latin typeface="Calibri"/>
              </a:rPr>
              <a:t>Mapa, telemetría por fase, anomalías y panel de control en una sola vista</a:t>
            </a:r>
          </a:p>
        </p:txBody>
      </p:sp>
      <p:sp>
        <p:nvSpPr>
          <p:cNvPr id="8" name="TextBox 7"/>
          <p:cNvSpPr txBox="1"/>
          <p:nvPr/>
        </p:nvSpPr>
        <p:spPr>
          <a:xfrm>
            <a:off x="457200" y="6446520"/>
            <a:ext cx="7315200" cy="320040"/>
          </a:xfrm>
          <a:prstGeom prst="rect">
            <a:avLst/>
          </a:prstGeom>
          <a:noFill/>
        </p:spPr>
        <p:txBody>
          <a:bodyPr wrap="square" lIns="0" tIns="0" rIns="0" bIns="0" anchor="t">
            <a:spAutoFit/>
          </a:bodyPr>
          <a:lstStyle/>
          <a:p>
            <a:pPr algn="l"/>
            <a:r>
              <a:rPr sz="1100" b="0">
                <a:solidFill>
                  <a:srgbClr val="4B5A52"/>
                </a:solidFill>
                <a:latin typeface="Calibri"/>
              </a:rPr>
              <a:t>Smart Energy Control · Hackathon Demo</a:t>
            </a:r>
          </a:p>
        </p:txBody>
      </p:sp>
      <p:sp>
        <p:nvSpPr>
          <p:cNvPr id="9" name="TextBox 8"/>
          <p:cNvSpPr txBox="1"/>
          <p:nvPr/>
        </p:nvSpPr>
        <p:spPr>
          <a:xfrm>
            <a:off x="10515600" y="6446520"/>
            <a:ext cx="1280160" cy="320040"/>
          </a:xfrm>
          <a:prstGeom prst="rect">
            <a:avLst/>
          </a:prstGeom>
          <a:noFill/>
        </p:spPr>
        <p:txBody>
          <a:bodyPr wrap="square" lIns="0" tIns="0" rIns="0" bIns="0" anchor="t">
            <a:spAutoFit/>
          </a:bodyPr>
          <a:lstStyle/>
          <a:p>
            <a:pPr algn="r"/>
            <a:r>
              <a:rPr sz="1100" b="0">
                <a:solidFill>
                  <a:srgbClr val="4B5A52"/>
                </a:solidFill>
                <a:latin typeface="Calibri"/>
              </a:rPr>
              <a:t>6 / 14</a:t>
            </a:r>
          </a:p>
        </p:txBody>
      </p:sp>
      <p:sp>
        <p:nvSpPr>
          <p:cNvPr id="11" name="Rectangle 10"/>
          <p:cNvSpPr/>
          <p:nvPr/>
        </p:nvSpPr>
        <p:spPr>
          <a:xfrm>
            <a:off x="374904" y="2157984"/>
            <a:ext cx="5650992" cy="2265011"/>
          </a:xfrm>
          <a:prstGeom prst="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n3.png"/>
          <p:cNvPicPr>
            <a:picLocks noChangeAspect="1"/>
          </p:cNvPicPr>
          <p:nvPr/>
        </p:nvPicPr>
        <p:blipFill>
          <a:blip r:embed="rId4"/>
          <a:stretch>
            <a:fillRect/>
          </a:stretch>
        </p:blipFill>
        <p:spPr>
          <a:xfrm>
            <a:off x="411480" y="2194560"/>
            <a:ext cx="5577840" cy="2191860"/>
          </a:xfrm>
          <a:prstGeom prst="rect">
            <a:avLst/>
          </a:prstGeom>
        </p:spPr>
      </p:pic>
      <p:sp>
        <p:nvSpPr>
          <p:cNvPr id="13" name="Rectangle 12"/>
          <p:cNvSpPr/>
          <p:nvPr/>
        </p:nvSpPr>
        <p:spPr>
          <a:xfrm>
            <a:off x="6135624" y="2157984"/>
            <a:ext cx="5650992" cy="2736472"/>
          </a:xfrm>
          <a:prstGeom prst="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n4.png"/>
          <p:cNvPicPr>
            <a:picLocks noChangeAspect="1"/>
          </p:cNvPicPr>
          <p:nvPr/>
        </p:nvPicPr>
        <p:blipFill>
          <a:blip r:embed="rId5"/>
          <a:stretch>
            <a:fillRect/>
          </a:stretch>
        </p:blipFill>
        <p:spPr>
          <a:xfrm>
            <a:off x="6172200" y="2194560"/>
            <a:ext cx="5577840" cy="2663320"/>
          </a:xfrm>
          <a:prstGeom prst="rect">
            <a:avLst/>
          </a:prstGeom>
        </p:spPr>
      </p:pic>
      <p:sp>
        <p:nvSpPr>
          <p:cNvPr id="14" name="TextBox 13"/>
          <p:cNvSpPr txBox="1"/>
          <p:nvPr/>
        </p:nvSpPr>
        <p:spPr>
          <a:xfrm>
            <a:off x="411480" y="4937760"/>
            <a:ext cx="5577840" cy="365760"/>
          </a:xfrm>
          <a:prstGeom prst="rect">
            <a:avLst/>
          </a:prstGeom>
          <a:noFill/>
        </p:spPr>
        <p:txBody>
          <a:bodyPr wrap="square" lIns="0" tIns="0" rIns="0" bIns="0" anchor="t">
            <a:spAutoFit/>
          </a:bodyPr>
          <a:lstStyle/>
          <a:p>
            <a:pPr algn="ctr"/>
            <a:r>
              <a:rPr sz="1400" b="1">
                <a:solidFill>
                  <a:srgbClr val="104F3A"/>
                </a:solidFill>
                <a:latin typeface="Calibri"/>
              </a:rPr>
              <a:t>Vista global · mapa, KPIs y curva de consumo</a:t>
            </a:r>
          </a:p>
        </p:txBody>
      </p:sp>
      <p:sp>
        <p:nvSpPr>
          <p:cNvPr id="15" name="TextBox 14"/>
          <p:cNvSpPr txBox="1"/>
          <p:nvPr/>
        </p:nvSpPr>
        <p:spPr>
          <a:xfrm>
            <a:off x="6172200" y="4937760"/>
            <a:ext cx="5577840" cy="365760"/>
          </a:xfrm>
          <a:prstGeom prst="rect">
            <a:avLst/>
          </a:prstGeom>
          <a:noFill/>
        </p:spPr>
        <p:txBody>
          <a:bodyPr wrap="square" lIns="0" tIns="0" rIns="0" bIns="0" anchor="t">
            <a:spAutoFit/>
          </a:bodyPr>
          <a:lstStyle/>
          <a:p>
            <a:pPr algn="ctr"/>
            <a:r>
              <a:rPr sz="1400" b="1">
                <a:solidFill>
                  <a:srgbClr val="104F3A"/>
                </a:solidFill>
                <a:latin typeface="Calibri"/>
              </a:rPr>
              <a:t>Detalle de fases · estado API y anomalías marcadas</a:t>
            </a:r>
          </a:p>
        </p:txBody>
      </p:sp>
      <p:sp>
        <p:nvSpPr>
          <p:cNvPr id="16" name="Rounded Rectangle 15"/>
          <p:cNvSpPr/>
          <p:nvPr/>
        </p:nvSpPr>
        <p:spPr>
          <a:xfrm>
            <a:off x="411480" y="5486400"/>
            <a:ext cx="11338560" cy="594360"/>
          </a:xfrm>
          <a:prstGeom prst="roundRect">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5486400"/>
            <a:ext cx="11338560" cy="594360"/>
          </a:xfrm>
          <a:prstGeom prst="rect">
            <a:avLst/>
          </a:prstGeom>
          <a:noFill/>
        </p:spPr>
        <p:txBody>
          <a:bodyPr wrap="square" lIns="0" tIns="0" rIns="0" bIns="0" anchor="ctr">
            <a:spAutoFit/>
          </a:bodyPr>
          <a:lstStyle/>
          <a:p>
            <a:pPr algn="ctr"/>
            <a:r>
              <a:rPr sz="1400" b="1">
                <a:solidFill>
                  <a:srgbClr val="1F2A24"/>
                </a:solidFill>
                <a:latin typeface="Calibri"/>
              </a:rPr>
              <a:t>Lo que ves está corriendo en local hoy. Mismo código que se desplegará en AWS.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rand_logo.png"/>
          <p:cNvPicPr>
            <a:picLocks noChangeAspect="1"/>
          </p:cNvPicPr>
          <p:nvPr/>
        </p:nvPicPr>
        <p:blipFill>
          <a:blip r:embed="rId3"/>
          <a:stretch>
            <a:fillRect/>
          </a:stretch>
        </p:blipFill>
        <p:spPr>
          <a:xfrm>
            <a:off x="11018520" y="164592"/>
            <a:ext cx="1005840" cy="548110"/>
          </a:xfrm>
          <a:prstGeom prst="rect">
            <a:avLst/>
          </a:prstGeom>
        </p:spPr>
      </p:pic>
      <p:sp>
        <p:nvSpPr>
          <p:cNvPr id="5" name="TextBox 4"/>
          <p:cNvSpPr txBox="1"/>
          <p:nvPr/>
        </p:nvSpPr>
        <p:spPr>
          <a:xfrm>
            <a:off x="640080" y="457200"/>
            <a:ext cx="10972800" cy="365760"/>
          </a:xfrm>
          <a:prstGeom prst="rect">
            <a:avLst/>
          </a:prstGeom>
          <a:noFill/>
        </p:spPr>
        <p:txBody>
          <a:bodyPr wrap="square" lIns="0" tIns="0" rIns="0" bIns="0" anchor="t">
            <a:spAutoFit/>
          </a:bodyPr>
          <a:lstStyle/>
          <a:p>
            <a:pPr algn="l"/>
            <a:r>
              <a:rPr sz="1200" b="1">
                <a:solidFill>
                  <a:srgbClr val="2E8B57"/>
                </a:solidFill>
                <a:latin typeface="Calibri"/>
              </a:rPr>
              <a:t>CÓMO FUNCIONA</a:t>
            </a:r>
          </a:p>
        </p:txBody>
      </p:sp>
      <p:sp>
        <p:nvSpPr>
          <p:cNvPr id="6" name="TextBox 5"/>
          <p:cNvSpPr txBox="1"/>
          <p:nvPr/>
        </p:nvSpPr>
        <p:spPr>
          <a:xfrm>
            <a:off x="640080" y="777240"/>
            <a:ext cx="10972800" cy="523220"/>
          </a:xfrm>
          <a:prstGeom prst="rect">
            <a:avLst/>
          </a:prstGeom>
          <a:noFill/>
        </p:spPr>
        <p:txBody>
          <a:bodyPr wrap="square" lIns="0" tIns="0" rIns="0" bIns="0" anchor="t">
            <a:spAutoFit/>
          </a:bodyPr>
          <a:lstStyle/>
          <a:p>
            <a:pPr algn="l"/>
            <a:r>
              <a:rPr sz="3400" b="1" dirty="0">
                <a:solidFill>
                  <a:srgbClr val="104F3A"/>
                </a:solidFill>
                <a:latin typeface="Calibri"/>
              </a:rPr>
              <a:t>Arquitectura simple</a:t>
            </a:r>
          </a:p>
        </p:txBody>
      </p:sp>
      <p:sp>
        <p:nvSpPr>
          <p:cNvPr id="7" name="TextBox 6"/>
          <p:cNvSpPr txBox="1"/>
          <p:nvPr/>
        </p:nvSpPr>
        <p:spPr>
          <a:xfrm>
            <a:off x="640080" y="1554480"/>
            <a:ext cx="10972800" cy="548640"/>
          </a:xfrm>
          <a:prstGeom prst="rect">
            <a:avLst/>
          </a:prstGeom>
          <a:noFill/>
        </p:spPr>
        <p:txBody>
          <a:bodyPr wrap="square" lIns="0" tIns="0" rIns="0" bIns="0" anchor="t">
            <a:spAutoFit/>
          </a:bodyPr>
          <a:lstStyle/>
          <a:p>
            <a:pPr algn="l"/>
            <a:r>
              <a:rPr sz="1800" b="0">
                <a:solidFill>
                  <a:srgbClr val="4B5A52"/>
                </a:solidFill>
                <a:latin typeface="Calibri"/>
              </a:rPr>
              <a:t>Sin dependencias cloud para el hackathon: 2 comandos y listo</a:t>
            </a:r>
          </a:p>
        </p:txBody>
      </p:sp>
      <p:sp>
        <p:nvSpPr>
          <p:cNvPr id="8" name="TextBox 7"/>
          <p:cNvSpPr txBox="1"/>
          <p:nvPr/>
        </p:nvSpPr>
        <p:spPr>
          <a:xfrm>
            <a:off x="457200" y="6446520"/>
            <a:ext cx="7315200" cy="320040"/>
          </a:xfrm>
          <a:prstGeom prst="rect">
            <a:avLst/>
          </a:prstGeom>
          <a:noFill/>
        </p:spPr>
        <p:txBody>
          <a:bodyPr wrap="square" lIns="0" tIns="0" rIns="0" bIns="0" anchor="t">
            <a:spAutoFit/>
          </a:bodyPr>
          <a:lstStyle/>
          <a:p>
            <a:pPr algn="l"/>
            <a:r>
              <a:rPr sz="1100" b="0">
                <a:solidFill>
                  <a:srgbClr val="4B5A52"/>
                </a:solidFill>
                <a:latin typeface="Calibri"/>
              </a:rPr>
              <a:t>Smart Energy Control · Hackathon Demo</a:t>
            </a:r>
          </a:p>
        </p:txBody>
      </p:sp>
      <p:sp>
        <p:nvSpPr>
          <p:cNvPr id="9" name="TextBox 8"/>
          <p:cNvSpPr txBox="1"/>
          <p:nvPr/>
        </p:nvSpPr>
        <p:spPr>
          <a:xfrm>
            <a:off x="10515600" y="6446520"/>
            <a:ext cx="1280160" cy="320040"/>
          </a:xfrm>
          <a:prstGeom prst="rect">
            <a:avLst/>
          </a:prstGeom>
          <a:noFill/>
        </p:spPr>
        <p:txBody>
          <a:bodyPr wrap="square" lIns="0" tIns="0" rIns="0" bIns="0" anchor="t">
            <a:spAutoFit/>
          </a:bodyPr>
          <a:lstStyle/>
          <a:p>
            <a:pPr algn="r"/>
            <a:r>
              <a:rPr sz="1100" b="0">
                <a:solidFill>
                  <a:srgbClr val="4B5A52"/>
                </a:solidFill>
                <a:latin typeface="Calibri"/>
              </a:rPr>
              <a:t>7 / 14</a:t>
            </a:r>
          </a:p>
        </p:txBody>
      </p:sp>
      <p:pic>
        <p:nvPicPr>
          <p:cNvPr id="10" name="Picture 9" descr="architecture.png"/>
          <p:cNvPicPr>
            <a:picLocks noChangeAspect="1"/>
          </p:cNvPicPr>
          <p:nvPr/>
        </p:nvPicPr>
        <p:blipFill>
          <a:blip r:embed="rId4"/>
          <a:stretch>
            <a:fillRect/>
          </a:stretch>
        </p:blipFill>
        <p:spPr>
          <a:xfrm>
            <a:off x="640080" y="2103120"/>
            <a:ext cx="10972800" cy="5486400"/>
          </a:xfrm>
          <a:prstGeom prst="rect">
            <a:avLst/>
          </a:prstGeom>
        </p:spPr>
      </p:pic>
      <p:sp>
        <p:nvSpPr>
          <p:cNvPr id="11" name="TextBox 10"/>
          <p:cNvSpPr txBox="1"/>
          <p:nvPr/>
        </p:nvSpPr>
        <p:spPr>
          <a:xfrm>
            <a:off x="640080" y="5669280"/>
            <a:ext cx="10972800" cy="548640"/>
          </a:xfrm>
          <a:prstGeom prst="rect">
            <a:avLst/>
          </a:prstGeom>
          <a:noFill/>
        </p:spPr>
        <p:txBody>
          <a:bodyPr wrap="square" lIns="0" tIns="0" rIns="0" bIns="0" anchor="t">
            <a:spAutoFit/>
          </a:bodyPr>
          <a:lstStyle/>
          <a:p>
            <a:pPr algn="l"/>
            <a:r>
              <a:rPr sz="1300" b="0">
                <a:solidFill>
                  <a:srgbClr val="4B5A52"/>
                </a:solidFill>
                <a:latin typeface="Calibri"/>
              </a:rPr>
              <a:t>Streamlit consume el Mock API (Smart Breaker + SIOS), Kiro orquesta el fan-out a Modo Eco. TDD + property-based tests cubren las 10 propiedades críticas.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rand_logo.png"/>
          <p:cNvPicPr>
            <a:picLocks noChangeAspect="1"/>
          </p:cNvPicPr>
          <p:nvPr/>
        </p:nvPicPr>
        <p:blipFill>
          <a:blip r:embed="rId3"/>
          <a:stretch>
            <a:fillRect/>
          </a:stretch>
        </p:blipFill>
        <p:spPr>
          <a:xfrm>
            <a:off x="11018520" y="164592"/>
            <a:ext cx="1005840" cy="548110"/>
          </a:xfrm>
          <a:prstGeom prst="rect">
            <a:avLst/>
          </a:prstGeom>
        </p:spPr>
      </p:pic>
      <p:sp>
        <p:nvSpPr>
          <p:cNvPr id="5" name="TextBox 4"/>
          <p:cNvSpPr txBox="1"/>
          <p:nvPr/>
        </p:nvSpPr>
        <p:spPr>
          <a:xfrm>
            <a:off x="640080" y="457200"/>
            <a:ext cx="10972800" cy="365760"/>
          </a:xfrm>
          <a:prstGeom prst="rect">
            <a:avLst/>
          </a:prstGeom>
          <a:noFill/>
        </p:spPr>
        <p:txBody>
          <a:bodyPr wrap="square" lIns="0" tIns="0" rIns="0" bIns="0" anchor="t">
            <a:spAutoFit/>
          </a:bodyPr>
          <a:lstStyle/>
          <a:p>
            <a:pPr algn="l"/>
            <a:r>
              <a:rPr sz="1200" b="1">
                <a:solidFill>
                  <a:srgbClr val="2E8B57"/>
                </a:solidFill>
                <a:latin typeface="Calibri"/>
              </a:rPr>
              <a:t>DESPLIEGUE EN PRODUCCIÓN</a:t>
            </a:r>
          </a:p>
        </p:txBody>
      </p:sp>
      <p:sp>
        <p:nvSpPr>
          <p:cNvPr id="6" name="TextBox 5"/>
          <p:cNvSpPr txBox="1"/>
          <p:nvPr/>
        </p:nvSpPr>
        <p:spPr>
          <a:xfrm>
            <a:off x="640080" y="777240"/>
            <a:ext cx="10972800" cy="822960"/>
          </a:xfrm>
          <a:prstGeom prst="rect">
            <a:avLst/>
          </a:prstGeom>
          <a:noFill/>
        </p:spPr>
        <p:txBody>
          <a:bodyPr wrap="square" lIns="0" tIns="0" rIns="0" bIns="0" anchor="t">
            <a:spAutoFit/>
          </a:bodyPr>
          <a:lstStyle/>
          <a:p>
            <a:pPr algn="l"/>
            <a:r>
              <a:rPr sz="3400" b="1">
                <a:solidFill>
                  <a:srgbClr val="104F3A"/>
                </a:solidFill>
                <a:latin typeface="Calibri"/>
              </a:rPr>
              <a:t>Cómo se escala Smart Energy Control en AWS con IoT Core</a:t>
            </a:r>
          </a:p>
        </p:txBody>
      </p:sp>
      <p:sp>
        <p:nvSpPr>
          <p:cNvPr id="7" name="TextBox 6"/>
          <p:cNvSpPr txBox="1"/>
          <p:nvPr/>
        </p:nvSpPr>
        <p:spPr>
          <a:xfrm>
            <a:off x="640080" y="1554480"/>
            <a:ext cx="10972800" cy="548640"/>
          </a:xfrm>
          <a:prstGeom prst="rect">
            <a:avLst/>
          </a:prstGeom>
          <a:noFill/>
        </p:spPr>
        <p:txBody>
          <a:bodyPr wrap="square" lIns="0" tIns="0" rIns="0" bIns="0" anchor="t">
            <a:spAutoFit/>
          </a:bodyPr>
          <a:lstStyle/>
          <a:p>
            <a:pPr algn="l"/>
            <a:r>
              <a:rPr sz="1800" b="0">
                <a:solidFill>
                  <a:srgbClr val="4B5A52"/>
                </a:solidFill>
                <a:latin typeface="Calibri"/>
              </a:rPr>
              <a:t>Mismo código del MVP, ahora con grado industrial: seguro, elástico y multi-región</a:t>
            </a:r>
          </a:p>
        </p:txBody>
      </p:sp>
      <p:sp>
        <p:nvSpPr>
          <p:cNvPr id="8" name="TextBox 7"/>
          <p:cNvSpPr txBox="1"/>
          <p:nvPr/>
        </p:nvSpPr>
        <p:spPr>
          <a:xfrm>
            <a:off x="457200" y="6446520"/>
            <a:ext cx="7315200" cy="320040"/>
          </a:xfrm>
          <a:prstGeom prst="rect">
            <a:avLst/>
          </a:prstGeom>
          <a:noFill/>
        </p:spPr>
        <p:txBody>
          <a:bodyPr wrap="square" lIns="0" tIns="0" rIns="0" bIns="0" anchor="t">
            <a:spAutoFit/>
          </a:bodyPr>
          <a:lstStyle/>
          <a:p>
            <a:pPr algn="l"/>
            <a:r>
              <a:rPr sz="1100" b="0">
                <a:solidFill>
                  <a:srgbClr val="4B5A52"/>
                </a:solidFill>
                <a:latin typeface="Calibri"/>
              </a:rPr>
              <a:t>Smart Energy Control · Hackathon Demo</a:t>
            </a:r>
          </a:p>
        </p:txBody>
      </p:sp>
      <p:sp>
        <p:nvSpPr>
          <p:cNvPr id="9" name="TextBox 8"/>
          <p:cNvSpPr txBox="1"/>
          <p:nvPr/>
        </p:nvSpPr>
        <p:spPr>
          <a:xfrm>
            <a:off x="10515600" y="6446520"/>
            <a:ext cx="1280160" cy="320040"/>
          </a:xfrm>
          <a:prstGeom prst="rect">
            <a:avLst/>
          </a:prstGeom>
          <a:noFill/>
        </p:spPr>
        <p:txBody>
          <a:bodyPr wrap="square" lIns="0" tIns="0" rIns="0" bIns="0" anchor="t">
            <a:spAutoFit/>
          </a:bodyPr>
          <a:lstStyle/>
          <a:p>
            <a:pPr algn="r"/>
            <a:r>
              <a:rPr sz="1100" b="0">
                <a:solidFill>
                  <a:srgbClr val="4B5A52"/>
                </a:solidFill>
                <a:latin typeface="Calibri"/>
              </a:rPr>
              <a:t>8 / 14</a:t>
            </a:r>
          </a:p>
        </p:txBody>
      </p:sp>
      <p:pic>
        <p:nvPicPr>
          <p:cNvPr id="10" name="Picture 9" descr="aws_architecture.png"/>
          <p:cNvPicPr>
            <a:picLocks noChangeAspect="1"/>
          </p:cNvPicPr>
          <p:nvPr/>
        </p:nvPicPr>
        <p:blipFill>
          <a:blip r:embed="rId4"/>
          <a:stretch>
            <a:fillRect/>
          </a:stretch>
        </p:blipFill>
        <p:spPr>
          <a:xfrm>
            <a:off x="365760" y="2057400"/>
            <a:ext cx="7680960" cy="3840480"/>
          </a:xfrm>
          <a:prstGeom prst="rect">
            <a:avLst/>
          </a:prstGeom>
        </p:spPr>
      </p:pic>
      <p:sp>
        <p:nvSpPr>
          <p:cNvPr id="11" name="TextBox 10"/>
          <p:cNvSpPr txBox="1"/>
          <p:nvPr/>
        </p:nvSpPr>
        <p:spPr>
          <a:xfrm>
            <a:off x="8229600" y="2194560"/>
            <a:ext cx="3657600" cy="4206240"/>
          </a:xfrm>
          <a:prstGeom prst="rect">
            <a:avLst/>
          </a:prstGeom>
          <a:noFill/>
        </p:spPr>
        <p:txBody>
          <a:bodyPr wrap="square" lIns="0">
            <a:spAutoFit/>
          </a:bodyPr>
          <a:lstStyle/>
          <a:p>
            <a:pPr algn="l">
              <a:spcAft>
                <a:spcPts val="800"/>
              </a:spcAft>
            </a:pPr>
            <a:r>
              <a:rPr sz="1400" b="1">
                <a:solidFill>
                  <a:srgbClr val="2E8B57"/>
                </a:solidFill>
                <a:latin typeface="Calibri"/>
              </a:rPr>
              <a:t>▎ </a:t>
            </a:r>
            <a:r>
              <a:rPr sz="1400">
                <a:solidFill>
                  <a:srgbClr val="1F2A24"/>
                </a:solidFill>
                <a:latin typeface="Calibri"/>
              </a:rPr>
              <a:t>AWS IoT Core: MQTT mutuo TLS, Device Shadow por fase.</a:t>
            </a:r>
          </a:p>
          <a:p>
            <a:pPr algn="l">
              <a:spcAft>
                <a:spcPts val="800"/>
              </a:spcAft>
            </a:pPr>
            <a:r>
              <a:rPr sz="1400" b="1">
                <a:solidFill>
                  <a:srgbClr val="2E8B57"/>
                </a:solidFill>
                <a:latin typeface="Calibri"/>
              </a:rPr>
              <a:t>▎ </a:t>
            </a:r>
            <a:r>
              <a:rPr sz="1400">
                <a:solidFill>
                  <a:srgbClr val="1F2A24"/>
                </a:solidFill>
                <a:latin typeface="Calibri"/>
              </a:rPr>
              <a:t>Rules Engine → Lambda → Timestream para series temporales.</a:t>
            </a:r>
          </a:p>
          <a:p>
            <a:pPr algn="l">
              <a:spcAft>
                <a:spcPts val="800"/>
              </a:spcAft>
            </a:pPr>
            <a:r>
              <a:rPr sz="1400" b="1">
                <a:solidFill>
                  <a:srgbClr val="2E8B57"/>
                </a:solidFill>
                <a:latin typeface="Calibri"/>
              </a:rPr>
              <a:t>▎ </a:t>
            </a:r>
            <a:r>
              <a:rPr sz="1400">
                <a:solidFill>
                  <a:srgbClr val="1F2A24"/>
                </a:solidFill>
                <a:latin typeface="Calibri"/>
              </a:rPr>
              <a:t>S3 + Athena para histórico y auditoría barata.</a:t>
            </a:r>
          </a:p>
          <a:p>
            <a:pPr algn="l">
              <a:spcAft>
                <a:spcPts val="800"/>
              </a:spcAft>
            </a:pPr>
            <a:r>
              <a:rPr sz="1400" b="1">
                <a:solidFill>
                  <a:srgbClr val="2E8B57"/>
                </a:solidFill>
                <a:latin typeface="Calibri"/>
              </a:rPr>
              <a:t>▎ </a:t>
            </a:r>
            <a:r>
              <a:rPr sz="1400">
                <a:solidFill>
                  <a:srgbClr val="1F2A24"/>
                </a:solidFill>
                <a:latin typeface="Calibri"/>
              </a:rPr>
              <a:t>Lambda detecta anomalías y publica al webhook de Modo Eco.</a:t>
            </a:r>
          </a:p>
          <a:p>
            <a:pPr algn="l">
              <a:spcAft>
                <a:spcPts val="800"/>
              </a:spcAft>
            </a:pPr>
            <a:r>
              <a:rPr sz="1400" b="1">
                <a:solidFill>
                  <a:srgbClr val="2E8B57"/>
                </a:solidFill>
                <a:latin typeface="Calibri"/>
              </a:rPr>
              <a:t>▎ </a:t>
            </a:r>
            <a:r>
              <a:rPr sz="1400">
                <a:solidFill>
                  <a:srgbClr val="1F2A24"/>
                </a:solidFill>
                <a:latin typeface="Calibri"/>
              </a:rPr>
              <a:t>Streamlit corre en ECS Fargate detrás de CloudFront + Cognito.</a:t>
            </a:r>
          </a:p>
          <a:p>
            <a:pPr algn="l">
              <a:spcAft>
                <a:spcPts val="800"/>
              </a:spcAft>
            </a:pPr>
            <a:r>
              <a:rPr sz="1400" b="1">
                <a:solidFill>
                  <a:srgbClr val="2E8B57"/>
                </a:solidFill>
                <a:latin typeface="Calibri"/>
              </a:rPr>
              <a:t>▎ </a:t>
            </a:r>
            <a:r>
              <a:rPr sz="1400">
                <a:solidFill>
                  <a:srgbClr val="1F2A24"/>
                </a:solidFill>
                <a:latin typeface="Calibri"/>
              </a:rPr>
              <a:t>Greengrass opcional para autonomía sin red en planta.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rand_logo.png"/>
          <p:cNvPicPr>
            <a:picLocks noChangeAspect="1"/>
          </p:cNvPicPr>
          <p:nvPr/>
        </p:nvPicPr>
        <p:blipFill>
          <a:blip r:embed="rId3"/>
          <a:stretch>
            <a:fillRect/>
          </a:stretch>
        </p:blipFill>
        <p:spPr>
          <a:xfrm>
            <a:off x="11018520" y="164592"/>
            <a:ext cx="1005840" cy="548110"/>
          </a:xfrm>
          <a:prstGeom prst="rect">
            <a:avLst/>
          </a:prstGeom>
        </p:spPr>
      </p:pic>
      <p:sp>
        <p:nvSpPr>
          <p:cNvPr id="5" name="TextBox 4"/>
          <p:cNvSpPr txBox="1"/>
          <p:nvPr/>
        </p:nvSpPr>
        <p:spPr>
          <a:xfrm>
            <a:off x="640080" y="457200"/>
            <a:ext cx="10972800" cy="365760"/>
          </a:xfrm>
          <a:prstGeom prst="rect">
            <a:avLst/>
          </a:prstGeom>
          <a:noFill/>
        </p:spPr>
        <p:txBody>
          <a:bodyPr wrap="square" lIns="0" tIns="0" rIns="0" bIns="0" anchor="t">
            <a:spAutoFit/>
          </a:bodyPr>
          <a:lstStyle/>
          <a:p>
            <a:pPr algn="l"/>
            <a:r>
              <a:rPr sz="1200" b="1">
                <a:solidFill>
                  <a:srgbClr val="2E8B57"/>
                </a:solidFill>
                <a:latin typeface="Calibri"/>
              </a:rPr>
              <a:t>COSTE Y RETORNO</a:t>
            </a:r>
          </a:p>
        </p:txBody>
      </p:sp>
      <p:sp>
        <p:nvSpPr>
          <p:cNvPr id="6" name="TextBox 5"/>
          <p:cNvSpPr txBox="1"/>
          <p:nvPr/>
        </p:nvSpPr>
        <p:spPr>
          <a:xfrm>
            <a:off x="640080" y="777240"/>
            <a:ext cx="10972800" cy="822960"/>
          </a:xfrm>
          <a:prstGeom prst="rect">
            <a:avLst/>
          </a:prstGeom>
          <a:noFill/>
        </p:spPr>
        <p:txBody>
          <a:bodyPr wrap="square" lIns="0" tIns="0" rIns="0" bIns="0" anchor="t">
            <a:spAutoFit/>
          </a:bodyPr>
          <a:lstStyle/>
          <a:p>
            <a:pPr algn="l"/>
            <a:r>
              <a:rPr sz="3400" b="1">
                <a:solidFill>
                  <a:srgbClr val="104F3A"/>
                </a:solidFill>
                <a:latin typeface="Calibri"/>
              </a:rPr>
              <a:t>Lo que paga el cliente en AWS frente a lo que ahorra</a:t>
            </a:r>
          </a:p>
        </p:txBody>
      </p:sp>
      <p:sp>
        <p:nvSpPr>
          <p:cNvPr id="7" name="TextBox 6"/>
          <p:cNvSpPr txBox="1"/>
          <p:nvPr/>
        </p:nvSpPr>
        <p:spPr>
          <a:xfrm>
            <a:off x="640080" y="1554480"/>
            <a:ext cx="10972800" cy="548640"/>
          </a:xfrm>
          <a:prstGeom prst="rect">
            <a:avLst/>
          </a:prstGeom>
          <a:noFill/>
        </p:spPr>
        <p:txBody>
          <a:bodyPr wrap="square" lIns="0" tIns="0" rIns="0" bIns="0" anchor="t">
            <a:spAutoFit/>
          </a:bodyPr>
          <a:lstStyle/>
          <a:p>
            <a:pPr algn="l"/>
            <a:r>
              <a:rPr sz="1800" b="0">
                <a:solidFill>
                  <a:srgbClr val="4B5A52"/>
                </a:solidFill>
                <a:latin typeface="Calibri"/>
              </a:rPr>
              <a:t>Tres escenarios reales · ROI positivo desde el primer mes</a:t>
            </a:r>
          </a:p>
        </p:txBody>
      </p:sp>
      <p:sp>
        <p:nvSpPr>
          <p:cNvPr id="8" name="TextBox 7"/>
          <p:cNvSpPr txBox="1"/>
          <p:nvPr/>
        </p:nvSpPr>
        <p:spPr>
          <a:xfrm>
            <a:off x="457200" y="6446520"/>
            <a:ext cx="7315200" cy="320040"/>
          </a:xfrm>
          <a:prstGeom prst="rect">
            <a:avLst/>
          </a:prstGeom>
          <a:noFill/>
        </p:spPr>
        <p:txBody>
          <a:bodyPr wrap="square" lIns="0" tIns="0" rIns="0" bIns="0" anchor="t">
            <a:spAutoFit/>
          </a:bodyPr>
          <a:lstStyle/>
          <a:p>
            <a:pPr algn="l"/>
            <a:r>
              <a:rPr sz="1100" b="0">
                <a:solidFill>
                  <a:srgbClr val="4B5A52"/>
                </a:solidFill>
                <a:latin typeface="Calibri"/>
              </a:rPr>
              <a:t>Smart Energy Control · Hackathon Demo</a:t>
            </a:r>
          </a:p>
        </p:txBody>
      </p:sp>
      <p:sp>
        <p:nvSpPr>
          <p:cNvPr id="9" name="TextBox 8"/>
          <p:cNvSpPr txBox="1"/>
          <p:nvPr/>
        </p:nvSpPr>
        <p:spPr>
          <a:xfrm>
            <a:off x="10515600" y="6446520"/>
            <a:ext cx="1280160" cy="320040"/>
          </a:xfrm>
          <a:prstGeom prst="rect">
            <a:avLst/>
          </a:prstGeom>
          <a:noFill/>
        </p:spPr>
        <p:txBody>
          <a:bodyPr wrap="square" lIns="0" tIns="0" rIns="0" bIns="0" anchor="t">
            <a:spAutoFit/>
          </a:bodyPr>
          <a:lstStyle/>
          <a:p>
            <a:pPr algn="r"/>
            <a:r>
              <a:rPr sz="1100" b="0">
                <a:solidFill>
                  <a:srgbClr val="4B5A52"/>
                </a:solidFill>
                <a:latin typeface="Calibri"/>
              </a:rPr>
              <a:t>9 / 14</a:t>
            </a:r>
          </a:p>
        </p:txBody>
      </p:sp>
      <p:pic>
        <p:nvPicPr>
          <p:cNvPr id="10" name="Picture 9" descr="aws_cost_comparison.png"/>
          <p:cNvPicPr>
            <a:picLocks noChangeAspect="1"/>
          </p:cNvPicPr>
          <p:nvPr/>
        </p:nvPicPr>
        <p:blipFill>
          <a:blip r:embed="rId4"/>
          <a:stretch>
            <a:fillRect/>
          </a:stretch>
        </p:blipFill>
        <p:spPr>
          <a:xfrm>
            <a:off x="365760" y="2011680"/>
            <a:ext cx="7680960" cy="4169664"/>
          </a:xfrm>
          <a:prstGeom prst="rect">
            <a:avLst/>
          </a:prstGeom>
        </p:spPr>
      </p:pic>
      <p:sp>
        <p:nvSpPr>
          <p:cNvPr id="11" name="TextBox 10"/>
          <p:cNvSpPr txBox="1"/>
          <p:nvPr/>
        </p:nvSpPr>
        <p:spPr>
          <a:xfrm>
            <a:off x="8229600" y="2103120"/>
            <a:ext cx="3657600" cy="4297680"/>
          </a:xfrm>
          <a:prstGeom prst="rect">
            <a:avLst/>
          </a:prstGeom>
          <a:noFill/>
        </p:spPr>
        <p:txBody>
          <a:bodyPr wrap="square" lIns="0">
            <a:spAutoFit/>
          </a:bodyPr>
          <a:lstStyle/>
          <a:p>
            <a:pPr algn="l">
              <a:spcAft>
                <a:spcPts val="800"/>
              </a:spcAft>
            </a:pPr>
            <a:r>
              <a:rPr sz="1400" b="1">
                <a:solidFill>
                  <a:srgbClr val="2E8B57"/>
                </a:solidFill>
                <a:latin typeface="Calibri"/>
              </a:rPr>
              <a:t>▎ </a:t>
            </a:r>
            <a:r>
              <a:rPr sz="1400">
                <a:solidFill>
                  <a:srgbClr val="1F2A24"/>
                </a:solidFill>
                <a:latin typeface="Calibri"/>
              </a:rPr>
              <a:t>Pyme: ~95 €/mes en AWS · ahorro ≈ 720 €/mes.</a:t>
            </a:r>
          </a:p>
          <a:p>
            <a:pPr algn="l">
              <a:spcAft>
                <a:spcPts val="800"/>
              </a:spcAft>
            </a:pPr>
            <a:r>
              <a:rPr sz="1400" b="1">
                <a:solidFill>
                  <a:srgbClr val="2E8B57"/>
                </a:solidFill>
                <a:latin typeface="Calibri"/>
              </a:rPr>
              <a:t>▎ </a:t>
            </a:r>
            <a:r>
              <a:rPr sz="1400">
                <a:solidFill>
                  <a:srgbClr val="1F2A24"/>
                </a:solidFill>
                <a:latin typeface="Calibri"/>
              </a:rPr>
              <a:t>Mediana: ~380 €/mes en AWS · ahorro ≈ 4.200 €/mes.</a:t>
            </a:r>
          </a:p>
          <a:p>
            <a:pPr algn="l">
              <a:spcAft>
                <a:spcPts val="800"/>
              </a:spcAft>
            </a:pPr>
            <a:r>
              <a:rPr sz="1400" b="1">
                <a:solidFill>
                  <a:srgbClr val="2E8B57"/>
                </a:solidFill>
                <a:latin typeface="Calibri"/>
              </a:rPr>
              <a:t>▎ </a:t>
            </a:r>
            <a:r>
              <a:rPr sz="1400">
                <a:solidFill>
                  <a:srgbClr val="1F2A24"/>
                </a:solidFill>
                <a:latin typeface="Calibri"/>
              </a:rPr>
              <a:t>Corporativo: ~1.850 €/mes · ahorro ≈ 26.000 €/mes.</a:t>
            </a:r>
          </a:p>
          <a:p>
            <a:pPr algn="l">
              <a:spcAft>
                <a:spcPts val="800"/>
              </a:spcAft>
            </a:pPr>
            <a:r>
              <a:rPr sz="1400" b="1">
                <a:solidFill>
                  <a:srgbClr val="2E8B57"/>
                </a:solidFill>
                <a:latin typeface="Calibri"/>
              </a:rPr>
              <a:t>▎ </a:t>
            </a:r>
            <a:r>
              <a:rPr sz="1400">
                <a:solidFill>
                  <a:srgbClr val="1F2A24"/>
                </a:solidFill>
                <a:latin typeface="Calibri"/>
              </a:rPr>
              <a:t>Pago por uso: IoT Core, Timestream, Lambda, Fargate.</a:t>
            </a:r>
          </a:p>
          <a:p>
            <a:pPr algn="l">
              <a:spcAft>
                <a:spcPts val="800"/>
              </a:spcAft>
            </a:pPr>
            <a:r>
              <a:rPr sz="1400" b="1">
                <a:solidFill>
                  <a:srgbClr val="2E8B57"/>
                </a:solidFill>
                <a:latin typeface="Calibri"/>
              </a:rPr>
              <a:t>▎ </a:t>
            </a:r>
            <a:r>
              <a:rPr sz="1400">
                <a:solidFill>
                  <a:srgbClr val="1F2A24"/>
                </a:solidFill>
                <a:latin typeface="Calibri"/>
              </a:rPr>
              <a:t>Sin licencias por dispositivo ni costes ocultos.</a:t>
            </a:r>
          </a:p>
          <a:p>
            <a:pPr algn="l">
              <a:spcAft>
                <a:spcPts val="800"/>
              </a:spcAft>
            </a:pPr>
            <a:r>
              <a:rPr sz="1400" b="1">
                <a:solidFill>
                  <a:srgbClr val="2E8B57"/>
                </a:solidFill>
                <a:latin typeface="Calibri"/>
              </a:rPr>
              <a:t>▎ </a:t>
            </a:r>
            <a:r>
              <a:rPr sz="1400">
                <a:solidFill>
                  <a:srgbClr val="1F2A24"/>
                </a:solidFill>
                <a:latin typeface="Calibri"/>
              </a:rPr>
              <a:t>ROI &gt; 7× en todos los tramos analizados.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rand_logo.png"/>
          <p:cNvPicPr>
            <a:picLocks noChangeAspect="1"/>
          </p:cNvPicPr>
          <p:nvPr/>
        </p:nvPicPr>
        <p:blipFill>
          <a:blip r:embed="rId3"/>
          <a:stretch>
            <a:fillRect/>
          </a:stretch>
        </p:blipFill>
        <p:spPr>
          <a:xfrm>
            <a:off x="11018520" y="164592"/>
            <a:ext cx="1005840" cy="548110"/>
          </a:xfrm>
          <a:prstGeom prst="rect">
            <a:avLst/>
          </a:prstGeom>
        </p:spPr>
      </p:pic>
      <p:sp>
        <p:nvSpPr>
          <p:cNvPr id="5" name="TextBox 4"/>
          <p:cNvSpPr txBox="1"/>
          <p:nvPr/>
        </p:nvSpPr>
        <p:spPr>
          <a:xfrm>
            <a:off x="640080" y="457200"/>
            <a:ext cx="10972800" cy="365760"/>
          </a:xfrm>
          <a:prstGeom prst="rect">
            <a:avLst/>
          </a:prstGeom>
          <a:noFill/>
        </p:spPr>
        <p:txBody>
          <a:bodyPr wrap="square" lIns="0" tIns="0" rIns="0" bIns="0" anchor="t">
            <a:spAutoFit/>
          </a:bodyPr>
          <a:lstStyle/>
          <a:p>
            <a:pPr algn="l"/>
            <a:r>
              <a:rPr sz="1200" b="1">
                <a:solidFill>
                  <a:srgbClr val="2E8B57"/>
                </a:solidFill>
                <a:latin typeface="Calibri"/>
              </a:rPr>
              <a:t>COSTE — DESGLOSE</a:t>
            </a:r>
          </a:p>
        </p:txBody>
      </p:sp>
      <p:sp>
        <p:nvSpPr>
          <p:cNvPr id="6" name="TextBox 5"/>
          <p:cNvSpPr txBox="1"/>
          <p:nvPr/>
        </p:nvSpPr>
        <p:spPr>
          <a:xfrm>
            <a:off x="640080" y="777240"/>
            <a:ext cx="10972800" cy="822960"/>
          </a:xfrm>
          <a:prstGeom prst="rect">
            <a:avLst/>
          </a:prstGeom>
          <a:noFill/>
        </p:spPr>
        <p:txBody>
          <a:bodyPr wrap="square" lIns="0" tIns="0" rIns="0" bIns="0" anchor="t">
            <a:spAutoFit/>
          </a:bodyPr>
          <a:lstStyle/>
          <a:p>
            <a:pPr algn="l"/>
            <a:r>
              <a:rPr sz="3400" b="1">
                <a:solidFill>
                  <a:srgbClr val="104F3A"/>
                </a:solidFill>
                <a:latin typeface="Calibri"/>
              </a:rPr>
              <a:t>A dónde va cada euro que pagas a AWS</a:t>
            </a:r>
          </a:p>
        </p:txBody>
      </p:sp>
      <p:sp>
        <p:nvSpPr>
          <p:cNvPr id="7" name="TextBox 6"/>
          <p:cNvSpPr txBox="1"/>
          <p:nvPr/>
        </p:nvSpPr>
        <p:spPr>
          <a:xfrm>
            <a:off x="640080" y="1554480"/>
            <a:ext cx="10972800" cy="548640"/>
          </a:xfrm>
          <a:prstGeom prst="rect">
            <a:avLst/>
          </a:prstGeom>
          <a:noFill/>
        </p:spPr>
        <p:txBody>
          <a:bodyPr wrap="square" lIns="0" tIns="0" rIns="0" bIns="0" anchor="t">
            <a:spAutoFit/>
          </a:bodyPr>
          <a:lstStyle/>
          <a:p>
            <a:pPr algn="l"/>
            <a:r>
              <a:rPr sz="1800" b="0">
                <a:solidFill>
                  <a:srgbClr val="4B5A52"/>
                </a:solidFill>
                <a:latin typeface="Calibri"/>
              </a:rPr>
              <a:t>Sin sorpresas: 5 servicios, todos con tarifa pública y pago por uso</a:t>
            </a:r>
          </a:p>
        </p:txBody>
      </p:sp>
      <p:sp>
        <p:nvSpPr>
          <p:cNvPr id="8" name="TextBox 7"/>
          <p:cNvSpPr txBox="1"/>
          <p:nvPr/>
        </p:nvSpPr>
        <p:spPr>
          <a:xfrm>
            <a:off x="457200" y="6446520"/>
            <a:ext cx="7315200" cy="320040"/>
          </a:xfrm>
          <a:prstGeom prst="rect">
            <a:avLst/>
          </a:prstGeom>
          <a:noFill/>
        </p:spPr>
        <p:txBody>
          <a:bodyPr wrap="square" lIns="0" tIns="0" rIns="0" bIns="0" anchor="t">
            <a:spAutoFit/>
          </a:bodyPr>
          <a:lstStyle/>
          <a:p>
            <a:pPr algn="l"/>
            <a:r>
              <a:rPr sz="1100" b="0">
                <a:solidFill>
                  <a:srgbClr val="4B5A52"/>
                </a:solidFill>
                <a:latin typeface="Calibri"/>
              </a:rPr>
              <a:t>Smart Energy Control · Hackathon Demo</a:t>
            </a:r>
          </a:p>
        </p:txBody>
      </p:sp>
      <p:sp>
        <p:nvSpPr>
          <p:cNvPr id="9" name="TextBox 8"/>
          <p:cNvSpPr txBox="1"/>
          <p:nvPr/>
        </p:nvSpPr>
        <p:spPr>
          <a:xfrm>
            <a:off x="10515600" y="6446520"/>
            <a:ext cx="1280160" cy="320040"/>
          </a:xfrm>
          <a:prstGeom prst="rect">
            <a:avLst/>
          </a:prstGeom>
          <a:noFill/>
        </p:spPr>
        <p:txBody>
          <a:bodyPr wrap="square" lIns="0" tIns="0" rIns="0" bIns="0" anchor="t">
            <a:spAutoFit/>
          </a:bodyPr>
          <a:lstStyle/>
          <a:p>
            <a:pPr algn="r"/>
            <a:r>
              <a:rPr sz="1100" b="0">
                <a:solidFill>
                  <a:srgbClr val="4B5A52"/>
                </a:solidFill>
                <a:latin typeface="Calibri"/>
              </a:rPr>
              <a:t>10 / 14</a:t>
            </a:r>
          </a:p>
        </p:txBody>
      </p:sp>
      <p:pic>
        <p:nvPicPr>
          <p:cNvPr id="10" name="Picture 9" descr="aws_cost_breakdown.png"/>
          <p:cNvPicPr>
            <a:picLocks noChangeAspect="1"/>
          </p:cNvPicPr>
          <p:nvPr/>
        </p:nvPicPr>
        <p:blipFill>
          <a:blip r:embed="rId4"/>
          <a:stretch>
            <a:fillRect/>
          </a:stretch>
        </p:blipFill>
        <p:spPr>
          <a:xfrm>
            <a:off x="365760" y="2011680"/>
            <a:ext cx="7680960" cy="3950208"/>
          </a:xfrm>
          <a:prstGeom prst="rect">
            <a:avLst/>
          </a:prstGeom>
        </p:spPr>
      </p:pic>
      <p:sp>
        <p:nvSpPr>
          <p:cNvPr id="11" name="TextBox 10"/>
          <p:cNvSpPr txBox="1"/>
          <p:nvPr/>
        </p:nvSpPr>
        <p:spPr>
          <a:xfrm>
            <a:off x="8229600" y="2103120"/>
            <a:ext cx="3657600" cy="4297680"/>
          </a:xfrm>
          <a:prstGeom prst="rect">
            <a:avLst/>
          </a:prstGeom>
          <a:noFill/>
        </p:spPr>
        <p:txBody>
          <a:bodyPr wrap="square" lIns="0">
            <a:spAutoFit/>
          </a:bodyPr>
          <a:lstStyle/>
          <a:p>
            <a:pPr algn="l">
              <a:spcAft>
                <a:spcPts val="800"/>
              </a:spcAft>
            </a:pPr>
            <a:r>
              <a:rPr sz="1400" b="1">
                <a:solidFill>
                  <a:srgbClr val="2E8B57"/>
                </a:solidFill>
                <a:latin typeface="Calibri"/>
              </a:rPr>
              <a:t>▎ </a:t>
            </a:r>
            <a:r>
              <a:rPr sz="1400">
                <a:solidFill>
                  <a:srgbClr val="1F2A24"/>
                </a:solidFill>
                <a:latin typeface="Calibri"/>
              </a:rPr>
              <a:t>IoT Core: 1 $/M mensajes MQTT.</a:t>
            </a:r>
          </a:p>
          <a:p>
            <a:pPr algn="l">
              <a:spcAft>
                <a:spcPts val="800"/>
              </a:spcAft>
            </a:pPr>
            <a:r>
              <a:rPr sz="1400" b="1">
                <a:solidFill>
                  <a:srgbClr val="2E8B57"/>
                </a:solidFill>
                <a:latin typeface="Calibri"/>
              </a:rPr>
              <a:t>▎ </a:t>
            </a:r>
            <a:r>
              <a:rPr sz="1400">
                <a:solidFill>
                  <a:srgbClr val="1F2A24"/>
                </a:solidFill>
                <a:latin typeface="Calibri"/>
              </a:rPr>
              <a:t>Timestream: writes + memory store + queries.</a:t>
            </a:r>
          </a:p>
          <a:p>
            <a:pPr algn="l">
              <a:spcAft>
                <a:spcPts val="800"/>
              </a:spcAft>
            </a:pPr>
            <a:r>
              <a:rPr sz="1400" b="1">
                <a:solidFill>
                  <a:srgbClr val="2E8B57"/>
                </a:solidFill>
                <a:latin typeface="Calibri"/>
              </a:rPr>
              <a:t>▎ </a:t>
            </a:r>
            <a:r>
              <a:rPr sz="1400">
                <a:solidFill>
                  <a:srgbClr val="1F2A24"/>
                </a:solidFill>
                <a:latin typeface="Calibri"/>
              </a:rPr>
              <a:t>Lambda: ms de cómputo por anomalía.</a:t>
            </a:r>
          </a:p>
          <a:p>
            <a:pPr algn="l">
              <a:spcAft>
                <a:spcPts val="800"/>
              </a:spcAft>
            </a:pPr>
            <a:r>
              <a:rPr sz="1400" b="1">
                <a:solidFill>
                  <a:srgbClr val="2E8B57"/>
                </a:solidFill>
                <a:latin typeface="Calibri"/>
              </a:rPr>
              <a:t>▎ </a:t>
            </a:r>
            <a:r>
              <a:rPr sz="1400">
                <a:solidFill>
                  <a:srgbClr val="1F2A24"/>
                </a:solidFill>
                <a:latin typeface="Calibri"/>
              </a:rPr>
              <a:t>Fargate: vCPU/GB-h del Streamlit.</a:t>
            </a:r>
          </a:p>
          <a:p>
            <a:pPr algn="l">
              <a:spcAft>
                <a:spcPts val="800"/>
              </a:spcAft>
            </a:pPr>
            <a:r>
              <a:rPr sz="1400" b="1">
                <a:solidFill>
                  <a:srgbClr val="2E8B57"/>
                </a:solidFill>
                <a:latin typeface="Calibri"/>
              </a:rPr>
              <a:t>▎ </a:t>
            </a:r>
            <a:r>
              <a:rPr sz="1400">
                <a:solidFill>
                  <a:srgbClr val="1F2A24"/>
                </a:solidFill>
                <a:latin typeface="Calibri"/>
              </a:rPr>
              <a:t>CloudFront, Cognito y S3: tráfico y auth.</a:t>
            </a:r>
          </a:p>
          <a:p>
            <a:pPr algn="l">
              <a:spcAft>
                <a:spcPts val="800"/>
              </a:spcAft>
            </a:pPr>
            <a:r>
              <a:rPr sz="1400" b="1">
                <a:solidFill>
                  <a:srgbClr val="2E8B57"/>
                </a:solidFill>
                <a:latin typeface="Calibri"/>
              </a:rPr>
              <a:t>▎ </a:t>
            </a:r>
            <a:r>
              <a:rPr sz="1400">
                <a:solidFill>
                  <a:srgbClr val="1F2A24"/>
                </a:solidFill>
                <a:latin typeface="Calibri"/>
              </a:rPr>
              <a:t>Reservas y Savings Plans bajan 20-40%.</a:t>
            </a:r>
          </a:p>
        </p:txBody>
      </p:sp>
      <p:sp>
        <p:nvSpPr>
          <p:cNvPr id="12" name="TextBox 11"/>
          <p:cNvSpPr txBox="1"/>
          <p:nvPr/>
        </p:nvSpPr>
        <p:spPr>
          <a:xfrm>
            <a:off x="457200" y="6080760"/>
            <a:ext cx="11247120" cy="320040"/>
          </a:xfrm>
          <a:prstGeom prst="rect">
            <a:avLst/>
          </a:prstGeom>
          <a:noFill/>
        </p:spPr>
        <p:txBody>
          <a:bodyPr wrap="square" lIns="0" tIns="0" rIns="0" bIns="0" anchor="t">
            <a:spAutoFit/>
          </a:bodyPr>
          <a:lstStyle/>
          <a:p>
            <a:pPr algn="l"/>
            <a:r>
              <a:rPr sz="1000" b="0">
                <a:solidFill>
                  <a:srgbClr val="4B5A52"/>
                </a:solidFill>
                <a:latin typeface="Calibri"/>
              </a:rPr>
              <a:t>Cifras orientativas. La calculadora oficial de AWS las afina por carga real.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rand_logo.png"/>
          <p:cNvPicPr>
            <a:picLocks noChangeAspect="1"/>
          </p:cNvPicPr>
          <p:nvPr/>
        </p:nvPicPr>
        <p:blipFill>
          <a:blip r:embed="rId3"/>
          <a:stretch>
            <a:fillRect/>
          </a:stretch>
        </p:blipFill>
        <p:spPr>
          <a:xfrm>
            <a:off x="11018520" y="164592"/>
            <a:ext cx="1005840" cy="548110"/>
          </a:xfrm>
          <a:prstGeom prst="rect">
            <a:avLst/>
          </a:prstGeom>
        </p:spPr>
      </p:pic>
      <p:sp>
        <p:nvSpPr>
          <p:cNvPr id="5" name="TextBox 4"/>
          <p:cNvSpPr txBox="1"/>
          <p:nvPr/>
        </p:nvSpPr>
        <p:spPr>
          <a:xfrm>
            <a:off x="640080" y="457200"/>
            <a:ext cx="10972800" cy="365760"/>
          </a:xfrm>
          <a:prstGeom prst="rect">
            <a:avLst/>
          </a:prstGeom>
          <a:noFill/>
        </p:spPr>
        <p:txBody>
          <a:bodyPr wrap="square" lIns="0" tIns="0" rIns="0" bIns="0" anchor="t">
            <a:spAutoFit/>
          </a:bodyPr>
          <a:lstStyle/>
          <a:p>
            <a:pPr algn="l"/>
            <a:r>
              <a:rPr sz="1200" b="1">
                <a:solidFill>
                  <a:srgbClr val="2E8B57"/>
                </a:solidFill>
                <a:latin typeface="Calibri"/>
              </a:rPr>
              <a:t>IMPACTO</a:t>
            </a:r>
          </a:p>
        </p:txBody>
      </p:sp>
      <p:sp>
        <p:nvSpPr>
          <p:cNvPr id="6" name="TextBox 5"/>
          <p:cNvSpPr txBox="1"/>
          <p:nvPr/>
        </p:nvSpPr>
        <p:spPr>
          <a:xfrm>
            <a:off x="640080" y="777240"/>
            <a:ext cx="10972800" cy="822960"/>
          </a:xfrm>
          <a:prstGeom prst="rect">
            <a:avLst/>
          </a:prstGeom>
          <a:noFill/>
        </p:spPr>
        <p:txBody>
          <a:bodyPr wrap="square" lIns="0" tIns="0" rIns="0" bIns="0" anchor="t">
            <a:spAutoFit/>
          </a:bodyPr>
          <a:lstStyle/>
          <a:p>
            <a:pPr algn="l"/>
            <a:r>
              <a:rPr sz="3400" b="1">
                <a:solidFill>
                  <a:srgbClr val="104F3A"/>
                </a:solidFill>
                <a:latin typeface="Calibri"/>
              </a:rPr>
              <a:t>Ahorro medible por categoría de carga</a:t>
            </a:r>
          </a:p>
        </p:txBody>
      </p:sp>
      <p:sp>
        <p:nvSpPr>
          <p:cNvPr id="7" name="TextBox 6"/>
          <p:cNvSpPr txBox="1"/>
          <p:nvPr/>
        </p:nvSpPr>
        <p:spPr>
          <a:xfrm>
            <a:off x="640080" y="1554480"/>
            <a:ext cx="10972800" cy="548640"/>
          </a:xfrm>
          <a:prstGeom prst="rect">
            <a:avLst/>
          </a:prstGeom>
          <a:noFill/>
        </p:spPr>
        <p:txBody>
          <a:bodyPr wrap="square" lIns="0" tIns="0" rIns="0" bIns="0" anchor="t">
            <a:spAutoFit/>
          </a:bodyPr>
          <a:lstStyle/>
          <a:p>
            <a:pPr algn="l"/>
            <a:r>
              <a:rPr sz="1800" b="0">
                <a:solidFill>
                  <a:srgbClr val="4B5A52"/>
                </a:solidFill>
                <a:latin typeface="Calibri"/>
              </a:rPr>
              <a:t>Ejemplo de un edificio piloto: 4 fases activadas en Modo Eco durante 1 hora</a:t>
            </a:r>
          </a:p>
        </p:txBody>
      </p:sp>
      <p:sp>
        <p:nvSpPr>
          <p:cNvPr id="8" name="TextBox 7"/>
          <p:cNvSpPr txBox="1"/>
          <p:nvPr/>
        </p:nvSpPr>
        <p:spPr>
          <a:xfrm>
            <a:off x="457200" y="6446520"/>
            <a:ext cx="7315200" cy="320040"/>
          </a:xfrm>
          <a:prstGeom prst="rect">
            <a:avLst/>
          </a:prstGeom>
          <a:noFill/>
        </p:spPr>
        <p:txBody>
          <a:bodyPr wrap="square" lIns="0" tIns="0" rIns="0" bIns="0" anchor="t">
            <a:spAutoFit/>
          </a:bodyPr>
          <a:lstStyle/>
          <a:p>
            <a:pPr algn="l"/>
            <a:r>
              <a:rPr sz="1100" b="0">
                <a:solidFill>
                  <a:srgbClr val="4B5A52"/>
                </a:solidFill>
                <a:latin typeface="Calibri"/>
              </a:rPr>
              <a:t>Smart Energy Control · Hackathon Demo</a:t>
            </a:r>
          </a:p>
        </p:txBody>
      </p:sp>
      <p:sp>
        <p:nvSpPr>
          <p:cNvPr id="9" name="TextBox 8"/>
          <p:cNvSpPr txBox="1"/>
          <p:nvPr/>
        </p:nvSpPr>
        <p:spPr>
          <a:xfrm>
            <a:off x="10515600" y="6446520"/>
            <a:ext cx="1280160" cy="320040"/>
          </a:xfrm>
          <a:prstGeom prst="rect">
            <a:avLst/>
          </a:prstGeom>
          <a:noFill/>
        </p:spPr>
        <p:txBody>
          <a:bodyPr wrap="square" lIns="0" tIns="0" rIns="0" bIns="0" anchor="t">
            <a:spAutoFit/>
          </a:bodyPr>
          <a:lstStyle/>
          <a:p>
            <a:pPr algn="r"/>
            <a:r>
              <a:rPr sz="1100" b="0">
                <a:solidFill>
                  <a:srgbClr val="4B5A52"/>
                </a:solidFill>
                <a:latin typeface="Calibri"/>
              </a:rPr>
              <a:t>11 / 14</a:t>
            </a:r>
          </a:p>
        </p:txBody>
      </p:sp>
      <p:pic>
        <p:nvPicPr>
          <p:cNvPr id="10" name="Picture 9" descr="savings_chart.png"/>
          <p:cNvPicPr>
            <a:picLocks noChangeAspect="1"/>
          </p:cNvPicPr>
          <p:nvPr/>
        </p:nvPicPr>
        <p:blipFill>
          <a:blip r:embed="rId4"/>
          <a:stretch>
            <a:fillRect/>
          </a:stretch>
        </p:blipFill>
        <p:spPr>
          <a:xfrm>
            <a:off x="640080" y="2103120"/>
            <a:ext cx="7772400" cy="4663440"/>
          </a:xfrm>
          <a:prstGeom prst="rect">
            <a:avLst/>
          </a:prstGeom>
        </p:spPr>
      </p:pic>
      <p:sp>
        <p:nvSpPr>
          <p:cNvPr id="11" name="TextBox 10"/>
          <p:cNvSpPr txBox="1"/>
          <p:nvPr/>
        </p:nvSpPr>
        <p:spPr>
          <a:xfrm>
            <a:off x="8595360" y="2286000"/>
            <a:ext cx="3108960" cy="4114800"/>
          </a:xfrm>
          <a:prstGeom prst="rect">
            <a:avLst/>
          </a:prstGeom>
          <a:noFill/>
        </p:spPr>
        <p:txBody>
          <a:bodyPr wrap="square" lIns="0">
            <a:spAutoFit/>
          </a:bodyPr>
          <a:lstStyle/>
          <a:p>
            <a:pPr algn="l">
              <a:spcAft>
                <a:spcPts val="800"/>
              </a:spcAft>
            </a:pPr>
            <a:r>
              <a:rPr sz="1500" b="1">
                <a:solidFill>
                  <a:srgbClr val="2E8B57"/>
                </a:solidFill>
                <a:latin typeface="Calibri"/>
              </a:rPr>
              <a:t>▎ </a:t>
            </a:r>
            <a:r>
              <a:rPr sz="1500">
                <a:solidFill>
                  <a:srgbClr val="1F2A24"/>
                </a:solidFill>
                <a:latin typeface="Calibri"/>
              </a:rPr>
              <a:t>−40% por fase activada.</a:t>
            </a:r>
          </a:p>
          <a:p>
            <a:pPr algn="l">
              <a:spcAft>
                <a:spcPts val="800"/>
              </a:spcAft>
            </a:pPr>
            <a:r>
              <a:rPr sz="1500" b="1">
                <a:solidFill>
                  <a:srgbClr val="2E8B57"/>
                </a:solidFill>
                <a:latin typeface="Calibri"/>
              </a:rPr>
              <a:t>▎ </a:t>
            </a:r>
            <a:r>
              <a:rPr sz="1500">
                <a:solidFill>
                  <a:srgbClr val="1F2A24"/>
                </a:solidFill>
                <a:latin typeface="Calibri"/>
              </a:rPr>
              <a:t>Reducción proporcional de €/h.</a:t>
            </a:r>
          </a:p>
          <a:p>
            <a:pPr algn="l">
              <a:spcAft>
                <a:spcPts val="800"/>
              </a:spcAft>
            </a:pPr>
            <a:r>
              <a:rPr sz="1500" b="1">
                <a:solidFill>
                  <a:srgbClr val="2E8B57"/>
                </a:solidFill>
                <a:latin typeface="Calibri"/>
              </a:rPr>
              <a:t>▎ </a:t>
            </a:r>
            <a:r>
              <a:rPr sz="1500">
                <a:solidFill>
                  <a:srgbClr val="1F2A24"/>
                </a:solidFill>
                <a:latin typeface="Calibri"/>
              </a:rPr>
              <a:t>Menos huella de CO₂ inmediata.</a:t>
            </a:r>
          </a:p>
          <a:p>
            <a:pPr algn="l">
              <a:spcAft>
                <a:spcPts val="800"/>
              </a:spcAft>
            </a:pPr>
            <a:r>
              <a:rPr sz="1500" b="1">
                <a:solidFill>
                  <a:srgbClr val="2E8B57"/>
                </a:solidFill>
                <a:latin typeface="Calibri"/>
              </a:rPr>
              <a:t>▎ </a:t>
            </a:r>
            <a:r>
              <a:rPr sz="1500">
                <a:solidFill>
                  <a:srgbClr val="1F2A24"/>
                </a:solidFill>
                <a:latin typeface="Calibri"/>
              </a:rPr>
              <a:t>Sin tocar servidores críticos.</a:t>
            </a:r>
          </a:p>
          <a:p>
            <a:pPr algn="l">
              <a:spcAft>
                <a:spcPts val="800"/>
              </a:spcAft>
            </a:pPr>
            <a:r>
              <a:rPr sz="1500" b="1">
                <a:solidFill>
                  <a:srgbClr val="2E8B57"/>
                </a:solidFill>
                <a:latin typeface="Calibri"/>
              </a:rPr>
              <a:t>▎ </a:t>
            </a:r>
            <a:r>
              <a:rPr sz="1500">
                <a:solidFill>
                  <a:srgbClr val="1F2A24"/>
                </a:solidFill>
                <a:latin typeface="Calibri"/>
              </a:rPr>
              <a:t>Auditable: cada acción queda registrada.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rand_logo.png"/>
          <p:cNvPicPr>
            <a:picLocks noChangeAspect="1"/>
          </p:cNvPicPr>
          <p:nvPr/>
        </p:nvPicPr>
        <p:blipFill>
          <a:blip r:embed="rId3"/>
          <a:stretch>
            <a:fillRect/>
          </a:stretch>
        </p:blipFill>
        <p:spPr>
          <a:xfrm>
            <a:off x="11018520" y="164592"/>
            <a:ext cx="1005840" cy="548110"/>
          </a:xfrm>
          <a:prstGeom prst="rect">
            <a:avLst/>
          </a:prstGeom>
        </p:spPr>
      </p:pic>
      <p:sp>
        <p:nvSpPr>
          <p:cNvPr id="5" name="TextBox 4"/>
          <p:cNvSpPr txBox="1"/>
          <p:nvPr/>
        </p:nvSpPr>
        <p:spPr>
          <a:xfrm>
            <a:off x="640080" y="457200"/>
            <a:ext cx="10972800" cy="365760"/>
          </a:xfrm>
          <a:prstGeom prst="rect">
            <a:avLst/>
          </a:prstGeom>
          <a:noFill/>
        </p:spPr>
        <p:txBody>
          <a:bodyPr wrap="square" lIns="0" tIns="0" rIns="0" bIns="0" anchor="t">
            <a:spAutoFit/>
          </a:bodyPr>
          <a:lstStyle/>
          <a:p>
            <a:pPr algn="l"/>
            <a:r>
              <a:rPr sz="1200" b="1">
                <a:solidFill>
                  <a:srgbClr val="2E8B57"/>
                </a:solidFill>
                <a:latin typeface="Calibri"/>
              </a:rPr>
              <a:t>HACIA DÓNDE VA</a:t>
            </a:r>
          </a:p>
        </p:txBody>
      </p:sp>
      <p:sp>
        <p:nvSpPr>
          <p:cNvPr id="6" name="TextBox 5"/>
          <p:cNvSpPr txBox="1"/>
          <p:nvPr/>
        </p:nvSpPr>
        <p:spPr>
          <a:xfrm>
            <a:off x="640080" y="777240"/>
            <a:ext cx="10972800" cy="822960"/>
          </a:xfrm>
          <a:prstGeom prst="rect">
            <a:avLst/>
          </a:prstGeom>
          <a:noFill/>
        </p:spPr>
        <p:txBody>
          <a:bodyPr wrap="square" lIns="0" tIns="0" rIns="0" bIns="0" anchor="t">
            <a:spAutoFit/>
          </a:bodyPr>
          <a:lstStyle/>
          <a:p>
            <a:pPr algn="l"/>
            <a:r>
              <a:rPr sz="3400" b="1">
                <a:solidFill>
                  <a:srgbClr val="104F3A"/>
                </a:solidFill>
                <a:latin typeface="Calibri"/>
              </a:rPr>
              <a:t>Roadmap del MVP al producto</a:t>
            </a:r>
          </a:p>
        </p:txBody>
      </p:sp>
      <p:sp>
        <p:nvSpPr>
          <p:cNvPr id="7" name="TextBox 6"/>
          <p:cNvSpPr txBox="1"/>
          <p:nvPr/>
        </p:nvSpPr>
        <p:spPr>
          <a:xfrm>
            <a:off x="640080" y="1554480"/>
            <a:ext cx="10972800" cy="548640"/>
          </a:xfrm>
          <a:prstGeom prst="rect">
            <a:avLst/>
          </a:prstGeom>
          <a:noFill/>
        </p:spPr>
        <p:txBody>
          <a:bodyPr wrap="square" lIns="0" tIns="0" rIns="0" bIns="0" anchor="t">
            <a:spAutoFit/>
          </a:bodyPr>
          <a:lstStyle/>
          <a:p>
            <a:pPr algn="l"/>
            <a:r>
              <a:rPr sz="1800" b="0">
                <a:solidFill>
                  <a:srgbClr val="4B5A52"/>
                </a:solidFill>
                <a:latin typeface="Calibri"/>
              </a:rPr>
              <a:t>Hoy: hackathon. Mañana: piloto real con breakers físicos.</a:t>
            </a:r>
          </a:p>
        </p:txBody>
      </p:sp>
      <p:sp>
        <p:nvSpPr>
          <p:cNvPr id="8" name="TextBox 7"/>
          <p:cNvSpPr txBox="1"/>
          <p:nvPr/>
        </p:nvSpPr>
        <p:spPr>
          <a:xfrm>
            <a:off x="457200" y="6446520"/>
            <a:ext cx="7315200" cy="320040"/>
          </a:xfrm>
          <a:prstGeom prst="rect">
            <a:avLst/>
          </a:prstGeom>
          <a:noFill/>
        </p:spPr>
        <p:txBody>
          <a:bodyPr wrap="square" lIns="0" tIns="0" rIns="0" bIns="0" anchor="t">
            <a:spAutoFit/>
          </a:bodyPr>
          <a:lstStyle/>
          <a:p>
            <a:pPr algn="l"/>
            <a:r>
              <a:rPr sz="1100" b="0">
                <a:solidFill>
                  <a:srgbClr val="4B5A52"/>
                </a:solidFill>
                <a:latin typeface="Calibri"/>
              </a:rPr>
              <a:t>Smart Energy Control · Hackathon Demo</a:t>
            </a:r>
          </a:p>
        </p:txBody>
      </p:sp>
      <p:sp>
        <p:nvSpPr>
          <p:cNvPr id="9" name="TextBox 8"/>
          <p:cNvSpPr txBox="1"/>
          <p:nvPr/>
        </p:nvSpPr>
        <p:spPr>
          <a:xfrm>
            <a:off x="10515600" y="6446520"/>
            <a:ext cx="1280160" cy="320040"/>
          </a:xfrm>
          <a:prstGeom prst="rect">
            <a:avLst/>
          </a:prstGeom>
          <a:noFill/>
        </p:spPr>
        <p:txBody>
          <a:bodyPr wrap="square" lIns="0" tIns="0" rIns="0" bIns="0" anchor="t">
            <a:spAutoFit/>
          </a:bodyPr>
          <a:lstStyle/>
          <a:p>
            <a:pPr algn="r"/>
            <a:r>
              <a:rPr sz="1100" b="0">
                <a:solidFill>
                  <a:srgbClr val="4B5A52"/>
                </a:solidFill>
                <a:latin typeface="Calibri"/>
              </a:rPr>
              <a:t>12 / 14</a:t>
            </a:r>
          </a:p>
        </p:txBody>
      </p:sp>
      <p:pic>
        <p:nvPicPr>
          <p:cNvPr id="10" name="Picture 9" descr="roadmap.png"/>
          <p:cNvPicPr>
            <a:picLocks noChangeAspect="1"/>
          </p:cNvPicPr>
          <p:nvPr/>
        </p:nvPicPr>
        <p:blipFill>
          <a:blip r:embed="rId4"/>
          <a:stretch>
            <a:fillRect/>
          </a:stretch>
        </p:blipFill>
        <p:spPr>
          <a:xfrm>
            <a:off x="457200" y="2286000"/>
            <a:ext cx="11247120" cy="40168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rand_logo.png"/>
          <p:cNvPicPr>
            <a:picLocks noChangeAspect="1"/>
          </p:cNvPicPr>
          <p:nvPr/>
        </p:nvPicPr>
        <p:blipFill>
          <a:blip r:embed="rId3"/>
          <a:stretch>
            <a:fillRect/>
          </a:stretch>
        </p:blipFill>
        <p:spPr>
          <a:xfrm>
            <a:off x="11018520" y="164592"/>
            <a:ext cx="1005840" cy="548110"/>
          </a:xfrm>
          <a:prstGeom prst="rect">
            <a:avLst/>
          </a:prstGeom>
        </p:spPr>
      </p:pic>
      <p:sp>
        <p:nvSpPr>
          <p:cNvPr id="5" name="TextBox 4"/>
          <p:cNvSpPr txBox="1"/>
          <p:nvPr/>
        </p:nvSpPr>
        <p:spPr>
          <a:xfrm>
            <a:off x="640080" y="457200"/>
            <a:ext cx="10972800" cy="365760"/>
          </a:xfrm>
          <a:prstGeom prst="rect">
            <a:avLst/>
          </a:prstGeom>
          <a:noFill/>
        </p:spPr>
        <p:txBody>
          <a:bodyPr wrap="square" lIns="0" tIns="0" rIns="0" bIns="0" anchor="t">
            <a:spAutoFit/>
          </a:bodyPr>
          <a:lstStyle/>
          <a:p>
            <a:pPr algn="l"/>
            <a:r>
              <a:rPr sz="1200" b="1">
                <a:solidFill>
                  <a:srgbClr val="2E8B57"/>
                </a:solidFill>
                <a:latin typeface="Calibri"/>
              </a:rPr>
              <a:t>FRENTE A ALTERNATIVAS</a:t>
            </a:r>
          </a:p>
        </p:txBody>
      </p:sp>
      <p:sp>
        <p:nvSpPr>
          <p:cNvPr id="6" name="TextBox 5"/>
          <p:cNvSpPr txBox="1"/>
          <p:nvPr/>
        </p:nvSpPr>
        <p:spPr>
          <a:xfrm>
            <a:off x="640080" y="777240"/>
            <a:ext cx="10972800" cy="822960"/>
          </a:xfrm>
          <a:prstGeom prst="rect">
            <a:avLst/>
          </a:prstGeom>
          <a:noFill/>
        </p:spPr>
        <p:txBody>
          <a:bodyPr wrap="square" lIns="0" tIns="0" rIns="0" bIns="0" anchor="t">
            <a:spAutoFit/>
          </a:bodyPr>
          <a:lstStyle/>
          <a:p>
            <a:pPr algn="l"/>
            <a:r>
              <a:rPr sz="3400" b="1">
                <a:solidFill>
                  <a:srgbClr val="104F3A"/>
                </a:solidFill>
                <a:latin typeface="Calibri"/>
              </a:rPr>
              <a:t>Lo que nos diferencia de otros proyectos del hackathon</a:t>
            </a:r>
          </a:p>
        </p:txBody>
      </p:sp>
      <p:sp>
        <p:nvSpPr>
          <p:cNvPr id="7" name="TextBox 6"/>
          <p:cNvSpPr txBox="1"/>
          <p:nvPr/>
        </p:nvSpPr>
        <p:spPr>
          <a:xfrm>
            <a:off x="640080" y="1554480"/>
            <a:ext cx="10972800" cy="548640"/>
          </a:xfrm>
          <a:prstGeom prst="rect">
            <a:avLst/>
          </a:prstGeom>
          <a:noFill/>
        </p:spPr>
        <p:txBody>
          <a:bodyPr wrap="square" lIns="0" tIns="0" rIns="0" bIns="0" anchor="t">
            <a:spAutoFit/>
          </a:bodyPr>
          <a:lstStyle/>
          <a:p>
            <a:pPr algn="l"/>
            <a:r>
              <a:rPr sz="1800" b="0">
                <a:solidFill>
                  <a:srgbClr val="4B5A52"/>
                </a:solidFill>
                <a:latin typeface="Calibri"/>
              </a:rPr>
              <a:t>Foco en acción, no solo en visualización</a:t>
            </a:r>
          </a:p>
        </p:txBody>
      </p:sp>
      <p:sp>
        <p:nvSpPr>
          <p:cNvPr id="8" name="TextBox 7"/>
          <p:cNvSpPr txBox="1"/>
          <p:nvPr/>
        </p:nvSpPr>
        <p:spPr>
          <a:xfrm>
            <a:off x="457200" y="6446520"/>
            <a:ext cx="7315200" cy="320040"/>
          </a:xfrm>
          <a:prstGeom prst="rect">
            <a:avLst/>
          </a:prstGeom>
          <a:noFill/>
        </p:spPr>
        <p:txBody>
          <a:bodyPr wrap="square" lIns="0" tIns="0" rIns="0" bIns="0" anchor="t">
            <a:spAutoFit/>
          </a:bodyPr>
          <a:lstStyle/>
          <a:p>
            <a:pPr algn="l"/>
            <a:r>
              <a:rPr sz="1100" b="0">
                <a:solidFill>
                  <a:srgbClr val="4B5A52"/>
                </a:solidFill>
                <a:latin typeface="Calibri"/>
              </a:rPr>
              <a:t>Smart Energy Control · Hackathon Demo</a:t>
            </a:r>
          </a:p>
        </p:txBody>
      </p:sp>
      <p:sp>
        <p:nvSpPr>
          <p:cNvPr id="9" name="TextBox 8"/>
          <p:cNvSpPr txBox="1"/>
          <p:nvPr/>
        </p:nvSpPr>
        <p:spPr>
          <a:xfrm>
            <a:off x="10515600" y="6446520"/>
            <a:ext cx="1280160" cy="320040"/>
          </a:xfrm>
          <a:prstGeom prst="rect">
            <a:avLst/>
          </a:prstGeom>
          <a:noFill/>
        </p:spPr>
        <p:txBody>
          <a:bodyPr wrap="square" lIns="0" tIns="0" rIns="0" bIns="0" anchor="t">
            <a:spAutoFit/>
          </a:bodyPr>
          <a:lstStyle/>
          <a:p>
            <a:pPr algn="r"/>
            <a:r>
              <a:rPr sz="1100" b="0">
                <a:solidFill>
                  <a:srgbClr val="4B5A52"/>
                </a:solidFill>
                <a:latin typeface="Calibri"/>
              </a:rPr>
              <a:t>13 / 14</a:t>
            </a:r>
          </a:p>
        </p:txBody>
      </p:sp>
      <p:sp>
        <p:nvSpPr>
          <p:cNvPr id="10" name="TextBox 9"/>
          <p:cNvSpPr txBox="1"/>
          <p:nvPr/>
        </p:nvSpPr>
        <p:spPr>
          <a:xfrm>
            <a:off x="640080" y="2377440"/>
            <a:ext cx="10972800" cy="3657600"/>
          </a:xfrm>
          <a:prstGeom prst="rect">
            <a:avLst/>
          </a:prstGeom>
          <a:noFill/>
        </p:spPr>
        <p:txBody>
          <a:bodyPr wrap="square" lIns="0">
            <a:spAutoFit/>
          </a:bodyPr>
          <a:lstStyle/>
          <a:p>
            <a:pPr algn="l">
              <a:spcAft>
                <a:spcPts val="800"/>
              </a:spcAft>
            </a:pPr>
            <a:r>
              <a:rPr sz="1800" b="1">
                <a:solidFill>
                  <a:srgbClr val="2E8B57"/>
                </a:solidFill>
                <a:latin typeface="Calibri"/>
              </a:rPr>
              <a:t>▎ </a:t>
            </a:r>
            <a:r>
              <a:rPr sz="1800">
                <a:solidFill>
                  <a:srgbClr val="1F2A24"/>
                </a:solidFill>
                <a:latin typeface="Calibri"/>
              </a:rPr>
              <a:t>Otros muestran datos: nosotros además accionamos el Modo Eco en segundos.</a:t>
            </a:r>
          </a:p>
          <a:p>
            <a:pPr algn="l">
              <a:spcAft>
                <a:spcPts val="800"/>
              </a:spcAft>
            </a:pPr>
            <a:r>
              <a:rPr sz="1800" b="1">
                <a:solidFill>
                  <a:srgbClr val="2E8B57"/>
                </a:solidFill>
                <a:latin typeface="Calibri"/>
              </a:rPr>
              <a:t>▎ </a:t>
            </a:r>
            <a:r>
              <a:rPr sz="1800">
                <a:solidFill>
                  <a:srgbClr val="1F2A24"/>
                </a:solidFill>
                <a:latin typeface="Calibri"/>
              </a:rPr>
              <a:t>Granularidad por fase, no por edificio entero (cargas críticas siempre seguras).</a:t>
            </a:r>
          </a:p>
          <a:p>
            <a:pPr algn="l">
              <a:spcAft>
                <a:spcPts val="800"/>
              </a:spcAft>
            </a:pPr>
            <a:r>
              <a:rPr sz="1800" b="1">
                <a:solidFill>
                  <a:srgbClr val="2E8B57"/>
                </a:solidFill>
                <a:latin typeface="Calibri"/>
              </a:rPr>
              <a:t>▎ </a:t>
            </a:r>
            <a:r>
              <a:rPr sz="1800">
                <a:solidFill>
                  <a:srgbClr val="1F2A24"/>
                </a:solidFill>
                <a:latin typeface="Calibri"/>
              </a:rPr>
              <a:t>Stack 100% open-source y reproducible en local sin cuentas cloud.</a:t>
            </a:r>
          </a:p>
          <a:p>
            <a:pPr algn="l">
              <a:spcAft>
                <a:spcPts val="800"/>
              </a:spcAft>
            </a:pPr>
            <a:r>
              <a:rPr sz="1800" b="1">
                <a:solidFill>
                  <a:srgbClr val="2E8B57"/>
                </a:solidFill>
                <a:latin typeface="Calibri"/>
              </a:rPr>
              <a:t>▎ </a:t>
            </a:r>
            <a:r>
              <a:rPr sz="1800">
                <a:solidFill>
                  <a:srgbClr val="1F2A24"/>
                </a:solidFill>
                <a:latin typeface="Calibri"/>
              </a:rPr>
              <a:t>Accesibilidad WCAG AA desde el día 1, no como capa cosmética.</a:t>
            </a:r>
          </a:p>
          <a:p>
            <a:pPr algn="l">
              <a:spcAft>
                <a:spcPts val="800"/>
              </a:spcAft>
            </a:pPr>
            <a:r>
              <a:rPr sz="1800" b="1">
                <a:solidFill>
                  <a:srgbClr val="2E8B57"/>
                </a:solidFill>
                <a:latin typeface="Calibri"/>
              </a:rPr>
              <a:t>▎ </a:t>
            </a:r>
            <a:r>
              <a:rPr sz="1800">
                <a:solidFill>
                  <a:srgbClr val="1F2A24"/>
                </a:solidFill>
                <a:latin typeface="Calibri"/>
              </a:rPr>
              <a:t>TDD con propiedades formales: 10 invariantes verificadas con Hypothesis.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4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logo.png"/>
          <p:cNvPicPr>
            <a:picLocks noChangeAspect="1"/>
          </p:cNvPicPr>
          <p:nvPr/>
        </p:nvPicPr>
        <p:blipFill>
          <a:blip r:embed="rId3"/>
          <a:stretch>
            <a:fillRect/>
          </a:stretch>
        </p:blipFill>
        <p:spPr>
          <a:xfrm>
            <a:off x="4983480" y="228600"/>
            <a:ext cx="2194560" cy="1195876"/>
          </a:xfrm>
          <a:prstGeom prst="rect">
            <a:avLst/>
          </a:prstGeom>
        </p:spPr>
      </p:pic>
      <p:sp>
        <p:nvSpPr>
          <p:cNvPr id="4" name="TextBox 3"/>
          <p:cNvSpPr txBox="1"/>
          <p:nvPr/>
        </p:nvSpPr>
        <p:spPr>
          <a:xfrm>
            <a:off x="640080" y="1463040"/>
            <a:ext cx="10972800" cy="914400"/>
          </a:xfrm>
          <a:prstGeom prst="rect">
            <a:avLst/>
          </a:prstGeom>
          <a:noFill/>
        </p:spPr>
        <p:txBody>
          <a:bodyPr wrap="square" lIns="0" tIns="0" rIns="0" bIns="0" anchor="t">
            <a:spAutoFit/>
          </a:bodyPr>
          <a:lstStyle/>
          <a:p>
            <a:pPr algn="l"/>
            <a:r>
              <a:rPr sz="4400" b="1">
                <a:solidFill>
                  <a:srgbClr val="FFFFFF"/>
                </a:solidFill>
                <a:latin typeface="Calibri"/>
              </a:rPr>
              <a:t>Energía bajo control. Naturaleza protegida.</a:t>
            </a:r>
          </a:p>
        </p:txBody>
      </p:sp>
      <p:sp>
        <p:nvSpPr>
          <p:cNvPr id="5" name="TextBox 4"/>
          <p:cNvSpPr txBox="1"/>
          <p:nvPr/>
        </p:nvSpPr>
        <p:spPr>
          <a:xfrm>
            <a:off x="640080" y="2468880"/>
            <a:ext cx="10972800" cy="731520"/>
          </a:xfrm>
          <a:prstGeom prst="rect">
            <a:avLst/>
          </a:prstGeom>
          <a:noFill/>
        </p:spPr>
        <p:txBody>
          <a:bodyPr wrap="square" lIns="0" tIns="0" rIns="0" bIns="0" anchor="t">
            <a:spAutoFit/>
          </a:bodyPr>
          <a:lstStyle/>
          <a:p>
            <a:pPr algn="l"/>
            <a:r>
              <a:rPr sz="2200" b="0">
                <a:solidFill>
                  <a:srgbClr val="F5EFE0"/>
                </a:solidFill>
                <a:latin typeface="Calibri"/>
              </a:rPr>
              <a:t>Smart Energy Control convierte cada edificio en un actor activo del ahorro.</a:t>
            </a:r>
          </a:p>
        </p:txBody>
      </p:sp>
      <p:sp>
        <p:nvSpPr>
          <p:cNvPr id="6" name="Rounded Rectangle 5"/>
          <p:cNvSpPr/>
          <p:nvPr/>
        </p:nvSpPr>
        <p:spPr>
          <a:xfrm>
            <a:off x="640080" y="3657600"/>
            <a:ext cx="3566160" cy="1828800"/>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749039"/>
            <a:ext cx="3566160" cy="731520"/>
          </a:xfrm>
          <a:prstGeom prst="rect">
            <a:avLst/>
          </a:prstGeom>
          <a:noFill/>
        </p:spPr>
        <p:txBody>
          <a:bodyPr wrap="square" lIns="0" tIns="0" rIns="0" bIns="0" anchor="t">
            <a:spAutoFit/>
          </a:bodyPr>
          <a:lstStyle/>
          <a:p>
            <a:pPr algn="ctr"/>
            <a:r>
              <a:rPr sz="4000" b="1">
                <a:solidFill>
                  <a:srgbClr val="9ACD32"/>
                </a:solidFill>
                <a:latin typeface="Calibri"/>
              </a:rPr>
              <a:t>−40%</a:t>
            </a:r>
          </a:p>
        </p:txBody>
      </p:sp>
      <p:sp>
        <p:nvSpPr>
          <p:cNvPr id="8" name="TextBox 7"/>
          <p:cNvSpPr txBox="1"/>
          <p:nvPr/>
        </p:nvSpPr>
        <p:spPr>
          <a:xfrm>
            <a:off x="640080" y="4572000"/>
            <a:ext cx="3566160" cy="914400"/>
          </a:xfrm>
          <a:prstGeom prst="rect">
            <a:avLst/>
          </a:prstGeom>
          <a:noFill/>
        </p:spPr>
        <p:txBody>
          <a:bodyPr wrap="square" lIns="0" tIns="0" rIns="0" bIns="0" anchor="t">
            <a:spAutoFit/>
          </a:bodyPr>
          <a:lstStyle/>
          <a:p>
            <a:pPr algn="ctr"/>
            <a:r>
              <a:rPr sz="1400" b="0">
                <a:solidFill>
                  <a:srgbClr val="FFFFFF"/>
                </a:solidFill>
                <a:latin typeface="Calibri"/>
              </a:rPr>
              <a:t>consumo por fase
en Modo Eco</a:t>
            </a:r>
          </a:p>
        </p:txBody>
      </p:sp>
      <p:sp>
        <p:nvSpPr>
          <p:cNvPr id="9" name="Rounded Rectangle 8"/>
          <p:cNvSpPr/>
          <p:nvPr/>
        </p:nvSpPr>
        <p:spPr>
          <a:xfrm>
            <a:off x="4389119" y="3657600"/>
            <a:ext cx="3566160" cy="1828800"/>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19" y="3749039"/>
            <a:ext cx="3566160" cy="731520"/>
          </a:xfrm>
          <a:prstGeom prst="rect">
            <a:avLst/>
          </a:prstGeom>
          <a:noFill/>
        </p:spPr>
        <p:txBody>
          <a:bodyPr wrap="square" lIns="0" tIns="0" rIns="0" bIns="0" anchor="t">
            <a:spAutoFit/>
          </a:bodyPr>
          <a:lstStyle/>
          <a:p>
            <a:pPr algn="ctr"/>
            <a:r>
              <a:rPr sz="4000" b="1">
                <a:solidFill>
                  <a:srgbClr val="9ACD32"/>
                </a:solidFill>
                <a:latin typeface="Calibri"/>
              </a:rPr>
              <a:t>30 s</a:t>
            </a:r>
          </a:p>
        </p:txBody>
      </p:sp>
      <p:sp>
        <p:nvSpPr>
          <p:cNvPr id="11" name="TextBox 10"/>
          <p:cNvSpPr txBox="1"/>
          <p:nvPr/>
        </p:nvSpPr>
        <p:spPr>
          <a:xfrm>
            <a:off x="4389119" y="4572000"/>
            <a:ext cx="3566160" cy="914400"/>
          </a:xfrm>
          <a:prstGeom prst="rect">
            <a:avLst/>
          </a:prstGeom>
          <a:noFill/>
        </p:spPr>
        <p:txBody>
          <a:bodyPr wrap="square" lIns="0" tIns="0" rIns="0" bIns="0" anchor="t">
            <a:spAutoFit/>
          </a:bodyPr>
          <a:lstStyle/>
          <a:p>
            <a:pPr algn="ctr"/>
            <a:r>
              <a:rPr sz="1400" b="0">
                <a:solidFill>
                  <a:srgbClr val="FFFFFF"/>
                </a:solidFill>
                <a:latin typeface="Calibri"/>
              </a:rPr>
              <a:t>frecuencia de
telemetría</a:t>
            </a:r>
          </a:p>
        </p:txBody>
      </p:sp>
      <p:sp>
        <p:nvSpPr>
          <p:cNvPr id="12" name="Rounded Rectangle 11"/>
          <p:cNvSpPr/>
          <p:nvPr/>
        </p:nvSpPr>
        <p:spPr>
          <a:xfrm>
            <a:off x="8138158" y="3657600"/>
            <a:ext cx="3566160" cy="1828800"/>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38158" y="3749039"/>
            <a:ext cx="3566160" cy="731520"/>
          </a:xfrm>
          <a:prstGeom prst="rect">
            <a:avLst/>
          </a:prstGeom>
          <a:noFill/>
        </p:spPr>
        <p:txBody>
          <a:bodyPr wrap="square" lIns="0" tIns="0" rIns="0" bIns="0" anchor="t">
            <a:spAutoFit/>
          </a:bodyPr>
          <a:lstStyle/>
          <a:p>
            <a:pPr algn="ctr"/>
            <a:r>
              <a:rPr sz="4000" b="1" dirty="0">
                <a:solidFill>
                  <a:srgbClr val="9ACD32"/>
                </a:solidFill>
                <a:latin typeface="Calibri"/>
              </a:rPr>
              <a:t>WCAG 2.1 AA</a:t>
            </a:r>
          </a:p>
        </p:txBody>
      </p:sp>
      <p:sp>
        <p:nvSpPr>
          <p:cNvPr id="14" name="TextBox 13"/>
          <p:cNvSpPr txBox="1"/>
          <p:nvPr/>
        </p:nvSpPr>
        <p:spPr>
          <a:xfrm>
            <a:off x="8138158" y="4572000"/>
            <a:ext cx="3566160" cy="914400"/>
          </a:xfrm>
          <a:prstGeom prst="rect">
            <a:avLst/>
          </a:prstGeom>
          <a:noFill/>
        </p:spPr>
        <p:txBody>
          <a:bodyPr wrap="square" lIns="0" tIns="0" rIns="0" bIns="0" anchor="t">
            <a:spAutoFit/>
          </a:bodyPr>
          <a:lstStyle/>
          <a:p>
            <a:pPr algn="ctr"/>
            <a:r>
              <a:rPr sz="1400" b="0">
                <a:solidFill>
                  <a:srgbClr val="FFFFFF"/>
                </a:solidFill>
                <a:latin typeface="Calibri"/>
              </a:rPr>
              <a:t>accesibilidad
por diseño</a:t>
            </a:r>
          </a:p>
        </p:txBody>
      </p:sp>
      <p:sp>
        <p:nvSpPr>
          <p:cNvPr id="15" name="TextBox 14"/>
          <p:cNvSpPr txBox="1"/>
          <p:nvPr/>
        </p:nvSpPr>
        <p:spPr>
          <a:xfrm>
            <a:off x="640080" y="6035040"/>
            <a:ext cx="10972800" cy="215444"/>
          </a:xfrm>
          <a:prstGeom prst="rect">
            <a:avLst/>
          </a:prstGeom>
          <a:noFill/>
        </p:spPr>
        <p:txBody>
          <a:bodyPr wrap="square" lIns="0" tIns="0" rIns="0" bIns="0" anchor="t">
            <a:spAutoFit/>
          </a:bodyPr>
          <a:lstStyle/>
          <a:p>
            <a:pPr algn="ctr"/>
            <a:r>
              <a:rPr sz="1400" b="0" dirty="0">
                <a:solidFill>
                  <a:srgbClr val="F5EFE0"/>
                </a:solidFill>
                <a:latin typeface="Calibri"/>
              </a:rPr>
              <a:t>demo </a:t>
            </a:r>
            <a:r>
              <a:rPr sz="1400" b="0" dirty="0" err="1">
                <a:solidFill>
                  <a:srgbClr val="F5EFE0"/>
                </a:solidFill>
                <a:latin typeface="Calibri"/>
              </a:rPr>
              <a:t>en</a:t>
            </a:r>
            <a:r>
              <a:rPr sz="1400" b="0" dirty="0">
                <a:solidFill>
                  <a:srgbClr val="F5EFE0"/>
                </a:solidFill>
                <a:latin typeface="Calibri"/>
              </a:rPr>
              <a:t> vivo disponible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1921</Words>
  <Application>Microsoft Office PowerPoint</Application>
  <PresentationFormat>Panorámica</PresentationFormat>
  <Paragraphs>147</Paragraphs>
  <Slides>14</Slides>
  <Notes>14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14</vt:i4>
      </vt:variant>
    </vt:vector>
  </HeadingPairs>
  <TitlesOfParts>
    <vt:vector size="17"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Oscar Benito Porteros</cp:lastModifiedBy>
  <cp:revision>2</cp:revision>
  <dcterms:created xsi:type="dcterms:W3CDTF">2013-01-27T09:14:16Z</dcterms:created>
  <dcterms:modified xsi:type="dcterms:W3CDTF">2026-05-14T13:51:17Z</dcterms:modified>
  <cp:category/>
</cp:coreProperties>
</file>